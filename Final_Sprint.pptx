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48" r:id="rId2"/>
  </p:sldMasterIdLst>
  <p:notesMasterIdLst>
    <p:notesMasterId r:id="rId20"/>
  </p:notesMasterIdLst>
  <p:sldIdLst>
    <p:sldId id="278" r:id="rId3"/>
    <p:sldId id="280" r:id="rId4"/>
    <p:sldId id="277" r:id="rId5"/>
    <p:sldId id="258" r:id="rId6"/>
    <p:sldId id="286" r:id="rId7"/>
    <p:sldId id="287" r:id="rId8"/>
    <p:sldId id="260" r:id="rId9"/>
    <p:sldId id="281" r:id="rId10"/>
    <p:sldId id="272" r:id="rId11"/>
    <p:sldId id="273" r:id="rId12"/>
    <p:sldId id="274" r:id="rId13"/>
    <p:sldId id="275" r:id="rId14"/>
    <p:sldId id="266" r:id="rId15"/>
    <p:sldId id="282" r:id="rId16"/>
    <p:sldId id="269" r:id="rId17"/>
    <p:sldId id="270" r:id="rId18"/>
    <p:sldId id="28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F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33" autoAdjust="0"/>
    <p:restoredTop sz="94660"/>
  </p:normalViewPr>
  <p:slideViewPr>
    <p:cSldViewPr snapToGrid="0">
      <p:cViewPr varScale="1">
        <p:scale>
          <a:sx n="59" d="100"/>
          <a:sy n="59" d="100"/>
        </p:scale>
        <p:origin x="11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EFF245-BB3F-4DEA-BB7C-BB9C12E18CD8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AF4983-6E9C-4A59-AD14-D54A16DE91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417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ADD7F4-0E93-4B7D-8163-829EADFE2F5A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2927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DC7C4-CA7E-F0D7-B6B4-2A854563A4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65A96E-5053-9275-D92A-EB5FCB514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F520D-0D91-9C1D-0D99-F6892DB4E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53553-1D27-4260-9E7D-4E5BA85CFDF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F7172-3699-5282-2350-861917480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9D2BB-B0D7-6B75-827E-51BE22051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284C5-2710-45C9-ABF0-60CAA8F277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780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09D21-47F0-B441-84A3-49365EF29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D3728-8383-7575-3401-3E72CA4DA9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B79B2-FB42-40F9-CB90-50C79958B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53553-1D27-4260-9E7D-4E5BA85CFDF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8AB83-5158-717E-0381-52B3772B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F4471-4E24-A08E-60CF-A8B12EBB0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284C5-2710-45C9-ABF0-60CAA8F277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432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06666-3314-6982-33B8-8867C5677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6054B-89F8-7D39-F737-7609BA375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ED244-4498-8A43-E0F7-52D06AA94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53553-1D27-4260-9E7D-4E5BA85CFDF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9C0EA-49E8-7B58-122B-D2B3CF2C0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361E2-2770-C3E2-2A3E-985002971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284C5-2710-45C9-ABF0-60CAA8F277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662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66712-6BF6-1787-A9A0-DA0B23650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9D04A-FACA-C3D5-6FB2-174B06A217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B7A0D2-26CE-1CAB-597B-21ADC5094A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6AB5C2-E4D8-B262-C755-1BD48463B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53553-1D27-4260-9E7D-4E5BA85CFDF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F53A03-7DD4-4170-8FE1-3A6532394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381AB4-71A3-4781-BB46-760818AE4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284C5-2710-45C9-ABF0-60CAA8F277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8863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8095F-9D81-7B0B-F039-703A270D8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55A68-6CCA-6C39-E8B5-8AEDB5015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9D6BA3-2F8F-8713-2BE2-7309D0C216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EB613E-410C-C5DE-B55C-593D73ECCF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D83B81-5A5C-4118-2239-1FA25B726C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8D896D-BEC8-66A0-0D55-12B60CA29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53553-1D27-4260-9E7D-4E5BA85CFDF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030F81-8C0D-9AA0-9DAF-36EFEFBC0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989F2C-A630-D2A4-E152-D3DE1081A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284C5-2710-45C9-ABF0-60CAA8F277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747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E94AA-6A7A-A588-1D20-E483828EB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AF74E6-CF25-E986-4BF8-C9FE9B438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53553-1D27-4260-9E7D-4E5BA85CFDF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AFA73-06E9-E784-0A69-1CE5E2B38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68A735-9024-6E23-902E-E0B59FC5C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284C5-2710-45C9-ABF0-60CAA8F277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7377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868E58-CC36-A32E-EE46-25D9EB0E6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53553-1D27-4260-9E7D-4E5BA85CFDF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8A6A80-2251-B636-E8DE-ED22DCB0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2869C-F949-2205-EDBD-10C22C76D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284C5-2710-45C9-ABF0-60CAA8F277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126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A274C-08E4-3BEF-36E4-40B67F454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0708A-194B-FE95-1D1B-930D3B7E9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FAAA1C-83D5-7D57-5C7A-D1C0A2BF85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861770-ECB7-AAF6-728B-6BBA3459E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53553-1D27-4260-9E7D-4E5BA85CFDF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61940F-2CDD-7A7B-5E7C-B9D59281B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A6448F-DC6E-0D56-F045-0C2DDA4E2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284C5-2710-45C9-ABF0-60CAA8F277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66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463-FB49-D89C-A050-DEC36F2B0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B531DC-70F3-6CFA-905E-2C0B4A770B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715500-D29F-587F-AD54-3D5F24F316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1A764-DD47-CA05-213F-DC95B8850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53553-1D27-4260-9E7D-4E5BA85CFDF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73AE25-D3BF-BFED-1799-013B4A172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2BA39A-5389-7A38-689C-88E1A0EEB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284C5-2710-45C9-ABF0-60CAA8F277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5385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4D17A-1CEE-8FB4-72FF-D5D53AFBC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B6FD7D-A2D9-8D67-B249-D7C4D07768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35C55-1A5B-95FD-DE6B-9DC6F04B1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53553-1D27-4260-9E7D-4E5BA85CFDF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E7DC5-FD17-B032-6D4E-726C3FDD5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9D5B5-1FEE-1899-53D4-486B36F45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284C5-2710-45C9-ABF0-60CAA8F277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8306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01B360-06AF-69A3-D079-4E4EFF8E3E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BD3A85-41A5-2D03-455E-E95BA74F40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1442A-D1F6-0C42-1E3D-30FA8E47D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53553-1D27-4260-9E7D-4E5BA85CFDF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CBD9B-7F5C-04D5-C25A-C6780DA52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19D0F-F67B-FDA9-78A1-5F3CD0A31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284C5-2710-45C9-ABF0-60CAA8F277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50917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7142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25120-52A4-9CA8-4B82-60A9AB3DD6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F8DFD6-32D9-8491-ECF7-3ECBABB297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0004E7-7174-18CE-3875-ABD1B013A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CF69-BD84-445E-988D-5409C9F6E114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EDBDB-C665-0973-60A2-85555C525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998AF-9339-7569-9516-12CA9F6B9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0783C-F284-4519-979B-7D6A1D45C7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89591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5B84F-B2CD-C69D-EE85-641B76381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87B75-948C-1F71-7A8C-A3F5DA2E5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B8688-2252-59B7-BA55-056773B3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CF69-BD84-445E-988D-5409C9F6E114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E0FA9-CA58-CD5C-303A-DCB6E7D7D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ECE81-747E-96D7-B8B9-BAB666983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0783C-F284-4519-979B-7D6A1D45C7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893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9557D-2660-DF08-EC7F-D4F939B7E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A80B47-334E-B13C-F366-B0781D538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20D2B-1CC7-A5A9-78A3-4B9A4E2D9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CF69-BD84-445E-988D-5409C9F6E114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73F1D-1A89-70EC-91EB-EF34FA881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FFCAD-19B8-CBA7-9C15-D936AF22A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0783C-F284-4519-979B-7D6A1D45C7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12650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6C8D3-3717-5B3C-7D20-56EC82E1D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5D642-6724-F604-2D4C-F710283FBD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5C6B52-555E-C881-E4F4-E5DF20990C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C3FB36-746D-8F34-168E-B1271BCDC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CF69-BD84-445E-988D-5409C9F6E114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FBF01E-1081-FF3B-B06B-1CDD62EC2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2E0565-F6C4-BB4C-BE76-09CCA5346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0783C-F284-4519-979B-7D6A1D45C7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18333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887DD-A947-F4A4-873B-5891E12D7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DEE171-587D-5403-BCA2-B86D78D98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E49A78-59FB-85D4-1B4E-11929788D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BB79C2-EDC6-3455-04C1-1436A038F8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4DCC22-195B-D53C-B064-A7C24CA2EA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3B7627-69B3-7732-84C0-F8E8D233D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CF69-BD84-445E-988D-5409C9F6E114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C77C5A-DBD4-3E57-7412-C2E421343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DF63AA-6E52-500E-4D86-7670D682C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0783C-F284-4519-979B-7D6A1D45C7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7348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0F414-B908-D1E7-DB50-9BE952FF0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1E7CB5-50EB-FBE4-5B70-618626BAC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CF69-BD84-445E-988D-5409C9F6E114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78FBE3-374C-B7DF-517C-15436B1A2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7F75BF-4359-895D-AF96-68577D3A3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0783C-F284-4519-979B-7D6A1D45C7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00397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0FDF28-7C07-5319-D837-2D823D671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CF69-BD84-445E-988D-5409C9F6E114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CA9D03-7EB9-BC9F-660D-A34AFD195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4F9FCC-CC61-52E0-8C0F-1EAFEC0CB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0783C-F284-4519-979B-7D6A1D45C7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6150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1E783-021B-C07A-1CAE-EBC04BF2F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E7E57-083A-2336-60E7-DA0CDB23A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38A6B1-738E-13D5-2761-47DC83D1B5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54B522-D159-59AB-15EC-DD5D57788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CF69-BD84-445E-988D-5409C9F6E114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313879-FAC4-4B63-A28D-CA217D2BD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52FD52-CF04-6D5E-0509-1635F3B4E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0783C-F284-4519-979B-7D6A1D45C7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0694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04903-D506-1431-7CC1-85ADF0DD3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1CF793-852C-365F-522E-579FB1C1B6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DF33FE-41EC-09E6-48F8-7A0CF343FE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1691E-6987-2055-A646-F308B36BE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CF69-BD84-445E-988D-5409C9F6E114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AD677-5B3B-86C2-0B8E-60CFD2A9C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979B8-81A1-BD5E-1EEA-CDCB70B6D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0783C-F284-4519-979B-7D6A1D45C7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24638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FCFBA-C6D8-018C-473F-6D65D441D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480E56-211E-576A-06DA-853ECFBBB2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E4FDB-1800-51A9-AEDF-7BF0784EB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CF69-BD84-445E-988D-5409C9F6E114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5F51A-0432-21A7-32FA-DECC098F8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21BEF-B954-AB31-42F4-CF5675B3A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0783C-F284-4519-979B-7D6A1D45C7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8802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C5D6AC-C088-0DF8-51D1-331A505B7A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CAC56E-548C-01D6-79A9-1E2E22B33F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86C12-347D-F675-6835-ADFA5BB9B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CF69-BD84-445E-988D-5409C9F6E114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8E5E1-8B88-54E0-DA70-AD55111B9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DC1A5-C4FD-4F4A-E341-EC9C0B9C7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0783C-F284-4519-979B-7D6A1D45C7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8516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9776D2-882D-B5AC-1C10-433BC20A7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6DC10-9E0A-0864-DCFE-E68EADDF6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3369D-8E70-C2D5-10ED-E88E9FB1B0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F53553-1D27-4260-9E7D-4E5BA85CFDF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FD2D8-69A9-E5E4-618F-AE77316EDD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B5C0A-4428-B25C-8010-C5E520E726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2284C5-2710-45C9-ABF0-60CAA8F277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9364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3EDB8E-3503-0D2E-E9ED-1FB6FACC9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F14645-066A-6117-DBAB-DF4031934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8C107-F4CD-4AB3-7966-5942E15BD3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8ECF69-BD84-445E-988D-5409C9F6E114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E1788-60F4-0827-85C2-1CC340BD70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BBF7B-3C24-3E1A-3E74-790B4F7EFC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40783C-F284-4519-979B-7D6A1D45C7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85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6" Type="http://schemas.openxmlformats.org/officeDocument/2006/relationships/image" Target="../media/image20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microsoft.com/office/2007/relationships/hdphoto" Target="../media/hdphoto2.wdp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4.png"/><Relationship Id="rId5" Type="http://schemas.openxmlformats.org/officeDocument/2006/relationships/image" Target="../media/image33.jpe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svg"/><Relationship Id="rId7" Type="http://schemas.openxmlformats.org/officeDocument/2006/relationships/image" Target="../media/image40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5" Type="http://schemas.openxmlformats.org/officeDocument/2006/relationships/image" Target="../media/image38.svg"/><Relationship Id="rId4" Type="http://schemas.openxmlformats.org/officeDocument/2006/relationships/image" Target="../media/image37.png"/><Relationship Id="rId9" Type="http://schemas.openxmlformats.org/officeDocument/2006/relationships/image" Target="../media/image42.sv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7" Type="http://schemas.openxmlformats.org/officeDocument/2006/relationships/image" Target="../media/image48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7.png"/><Relationship Id="rId5" Type="http://schemas.openxmlformats.org/officeDocument/2006/relationships/image" Target="../media/image46.svg"/><Relationship Id="rId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800B435E-A1E0-94B2-818F-9E93404AB3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5F459E-5E60-2F0B-EA08-D1994B1478DC}"/>
              </a:ext>
            </a:extLst>
          </p:cNvPr>
          <p:cNvSpPr txBox="1"/>
          <p:nvPr/>
        </p:nvSpPr>
        <p:spPr>
          <a:xfrm>
            <a:off x="630936" y="639520"/>
            <a:ext cx="3429000" cy="1719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Crop Yield Analysis : ETL Pipeline and Data Visualization</a:t>
            </a:r>
          </a:p>
        </p:txBody>
      </p:sp>
      <p:sp>
        <p:nvSpPr>
          <p:cNvPr id="29" name="sketch line">
            <a:extLst>
              <a:ext uri="{FF2B5EF4-FFF2-40B4-BE49-F238E27FC236}">
                <a16:creationId xmlns:a16="http://schemas.microsoft.com/office/drawing/2014/main" id="{E2D43551-3B91-46AC-F070-21447575E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17C9549-46E4-C461-DD70-E4D34A400F0C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/>
              <a:t>Team Members :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K.Ram</a:t>
            </a:r>
            <a:r>
              <a:rPr lang="en-US" sz="2200" dirty="0"/>
              <a:t> Shashank Reddy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B.Pranay</a:t>
            </a:r>
            <a:endParaRPr lang="en-US" sz="220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Harshit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Sai Teja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Ashutosh</a:t>
            </a:r>
            <a:br>
              <a:rPr lang="en-US" sz="2200" dirty="0"/>
            </a:br>
            <a:endParaRPr lang="en-US" sz="2200" dirty="0"/>
          </a:p>
        </p:txBody>
      </p:sp>
      <p:pic>
        <p:nvPicPr>
          <p:cNvPr id="31" name="Picture 2" descr="A field of green plants&#10;&#10;AI-generated content may be incorrect.">
            <a:extLst>
              <a:ext uri="{FF2B5EF4-FFF2-40B4-BE49-F238E27FC236}">
                <a16:creationId xmlns:a16="http://schemas.microsoft.com/office/drawing/2014/main" id="{36D6ACF1-24E0-20AE-621E-B91D3049C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1694440"/>
            <a:ext cx="6903720" cy="3469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3723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CAED8-246E-F2A5-C45A-CDB3FEAE7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45B0795-6766-B089-B7C9-D2BAC7D34589}"/>
              </a:ext>
            </a:extLst>
          </p:cNvPr>
          <p:cNvSpPr/>
          <p:nvPr/>
        </p:nvSpPr>
        <p:spPr>
          <a:xfrm>
            <a:off x="631925" y="893564"/>
            <a:ext cx="5842794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66"/>
              </a:lnSpc>
            </a:pPr>
            <a:r>
              <a:rPr lang="en-US" sz="3708" dirty="0"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Presentation Outline</a:t>
            </a:r>
            <a:endParaRPr lang="en-US" sz="3708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99918DC-7D0E-38CB-9C4C-509782E8C459}"/>
              </a:ext>
            </a:extLst>
          </p:cNvPr>
          <p:cNvSpPr/>
          <p:nvPr/>
        </p:nvSpPr>
        <p:spPr>
          <a:xfrm>
            <a:off x="631925" y="1848544"/>
            <a:ext cx="180479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latin typeface="Dela Gothic One Light" pitchFamily="34" charset="0"/>
                <a:ea typeface="Dela Gothic One Light" pitchFamily="34" charset="-122"/>
                <a:cs typeface="Dela Gothic One Light" pitchFamily="34" charset="-120"/>
              </a:rPr>
              <a:t>01</a:t>
            </a:r>
            <a:endParaRPr lang="en-US" sz="1417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3D6A7DA-131C-74D9-C1BD-EAE796C918B7}"/>
              </a:ext>
            </a:extLst>
          </p:cNvPr>
          <p:cNvSpPr/>
          <p:nvPr/>
        </p:nvSpPr>
        <p:spPr>
          <a:xfrm>
            <a:off x="631924" y="2129830"/>
            <a:ext cx="5373787" cy="25400"/>
          </a:xfrm>
          <a:prstGeom prst="rect">
            <a:avLst/>
          </a:prstGeom>
          <a:solidFill>
            <a:srgbClr val="C91313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42196EE-CBE2-8426-1DA9-4F13E1619762}"/>
              </a:ext>
            </a:extLst>
          </p:cNvPr>
          <p:cNvSpPr/>
          <p:nvPr/>
        </p:nvSpPr>
        <p:spPr>
          <a:xfrm>
            <a:off x="631925" y="2270819"/>
            <a:ext cx="4389636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833" dirty="0"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Project Overview &amp; Importance</a:t>
            </a:r>
            <a:endParaRPr lang="en-US" sz="1833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B10FD4E-2918-BF13-047A-0AAFA7444115}"/>
              </a:ext>
            </a:extLst>
          </p:cNvPr>
          <p:cNvSpPr/>
          <p:nvPr/>
        </p:nvSpPr>
        <p:spPr>
          <a:xfrm>
            <a:off x="631924" y="2675930"/>
            <a:ext cx="5373787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Understanding the business value of crop yield analysis</a:t>
            </a:r>
            <a:endParaRPr lang="en-US" sz="1417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1DAE14C-FED5-C051-3EFA-06F629FD1E05}"/>
              </a:ext>
            </a:extLst>
          </p:cNvPr>
          <p:cNvSpPr/>
          <p:nvPr/>
        </p:nvSpPr>
        <p:spPr>
          <a:xfrm>
            <a:off x="6186191" y="1848544"/>
            <a:ext cx="180479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latin typeface="Dela Gothic One Light" pitchFamily="34" charset="0"/>
                <a:ea typeface="Dela Gothic One Light" pitchFamily="34" charset="-122"/>
                <a:cs typeface="Dela Gothic One Light" pitchFamily="34" charset="-120"/>
              </a:rPr>
              <a:t>02</a:t>
            </a:r>
            <a:endParaRPr lang="en-US" sz="1417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5B2EC88-238E-EC92-71C5-FC85A906D7F4}"/>
              </a:ext>
            </a:extLst>
          </p:cNvPr>
          <p:cNvSpPr/>
          <p:nvPr/>
        </p:nvSpPr>
        <p:spPr>
          <a:xfrm>
            <a:off x="6186190" y="2129830"/>
            <a:ext cx="5373886" cy="25400"/>
          </a:xfrm>
          <a:prstGeom prst="rect">
            <a:avLst/>
          </a:prstGeom>
          <a:solidFill>
            <a:srgbClr val="C91313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38359D2-3654-1629-DB54-7867653BC840}"/>
              </a:ext>
            </a:extLst>
          </p:cNvPr>
          <p:cNvSpPr/>
          <p:nvPr/>
        </p:nvSpPr>
        <p:spPr>
          <a:xfrm>
            <a:off x="6186190" y="2270819"/>
            <a:ext cx="2476302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833" dirty="0"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ETL Architecture</a:t>
            </a:r>
            <a:endParaRPr lang="en-US" sz="1833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86E14E2-A753-9952-B025-59650E6777DC}"/>
              </a:ext>
            </a:extLst>
          </p:cNvPr>
          <p:cNvSpPr/>
          <p:nvPr/>
        </p:nvSpPr>
        <p:spPr>
          <a:xfrm>
            <a:off x="6186190" y="2675930"/>
            <a:ext cx="5373886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Silver and Gold layer implementation strategy</a:t>
            </a:r>
            <a:endParaRPr lang="en-US" sz="1417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4B4CAA8-A116-3236-0E07-AE2328437700}"/>
              </a:ext>
            </a:extLst>
          </p:cNvPr>
          <p:cNvSpPr/>
          <p:nvPr/>
        </p:nvSpPr>
        <p:spPr>
          <a:xfrm>
            <a:off x="631925" y="3280669"/>
            <a:ext cx="180479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latin typeface="Dela Gothic One Light" pitchFamily="34" charset="0"/>
                <a:ea typeface="Dela Gothic One Light" pitchFamily="34" charset="-122"/>
                <a:cs typeface="Dela Gothic One Light" pitchFamily="34" charset="-120"/>
              </a:rPr>
              <a:t>03</a:t>
            </a:r>
            <a:endParaRPr lang="en-US" sz="1417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B7B62EB-B54E-EA19-7369-EBD0FBD45098}"/>
              </a:ext>
            </a:extLst>
          </p:cNvPr>
          <p:cNvSpPr/>
          <p:nvPr/>
        </p:nvSpPr>
        <p:spPr>
          <a:xfrm>
            <a:off x="631924" y="3561953"/>
            <a:ext cx="5373787" cy="25400"/>
          </a:xfrm>
          <a:prstGeom prst="rect">
            <a:avLst/>
          </a:prstGeom>
          <a:solidFill>
            <a:srgbClr val="C91313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DFC2ACA-675E-B359-6B1C-03C19C450467}"/>
              </a:ext>
            </a:extLst>
          </p:cNvPr>
          <p:cNvSpPr/>
          <p:nvPr/>
        </p:nvSpPr>
        <p:spPr>
          <a:xfrm>
            <a:off x="631924" y="3702944"/>
            <a:ext cx="3686770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833" dirty="0"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Technical Implementation</a:t>
            </a:r>
            <a:endParaRPr lang="en-US" sz="1833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CD29E41-4DE2-D883-7835-D2ED79F37F57}"/>
              </a:ext>
            </a:extLst>
          </p:cNvPr>
          <p:cNvSpPr/>
          <p:nvPr/>
        </p:nvSpPr>
        <p:spPr>
          <a:xfrm>
            <a:off x="631924" y="4108053"/>
            <a:ext cx="5373787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PostgreSQL integration and code optimization</a:t>
            </a:r>
            <a:endParaRPr lang="en-US" sz="1417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4AC1537-3E53-030C-BDCC-8C5D2B0C61B8}"/>
              </a:ext>
            </a:extLst>
          </p:cNvPr>
          <p:cNvSpPr/>
          <p:nvPr/>
        </p:nvSpPr>
        <p:spPr>
          <a:xfrm>
            <a:off x="6186191" y="3280669"/>
            <a:ext cx="180479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latin typeface="Dela Gothic One Light" pitchFamily="34" charset="0"/>
                <a:ea typeface="Dela Gothic One Light" pitchFamily="34" charset="-122"/>
                <a:cs typeface="Dela Gothic One Light" pitchFamily="34" charset="-120"/>
              </a:rPr>
              <a:t>04</a:t>
            </a:r>
            <a:endParaRPr lang="en-US" sz="1417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BE28336-13DB-9F72-C2E2-14FEA9501FED}"/>
              </a:ext>
            </a:extLst>
          </p:cNvPr>
          <p:cNvSpPr/>
          <p:nvPr/>
        </p:nvSpPr>
        <p:spPr>
          <a:xfrm>
            <a:off x="6186190" y="3561953"/>
            <a:ext cx="5373886" cy="25400"/>
          </a:xfrm>
          <a:prstGeom prst="rect">
            <a:avLst/>
          </a:prstGeom>
          <a:solidFill>
            <a:srgbClr val="C91313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CFAA39A-4FA1-E2D8-C26E-967CD2E5E79B}"/>
              </a:ext>
            </a:extLst>
          </p:cNvPr>
          <p:cNvSpPr/>
          <p:nvPr/>
        </p:nvSpPr>
        <p:spPr>
          <a:xfrm>
            <a:off x="6186190" y="3702944"/>
            <a:ext cx="3901976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833" dirty="0"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Data Visualization Strategy</a:t>
            </a:r>
            <a:endParaRPr lang="en-US" sz="1833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29DABC8-2624-C9EF-090A-03B768133BD6}"/>
              </a:ext>
            </a:extLst>
          </p:cNvPr>
          <p:cNvSpPr/>
          <p:nvPr/>
        </p:nvSpPr>
        <p:spPr>
          <a:xfrm>
            <a:off x="6186190" y="4108053"/>
            <a:ext cx="5373886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Power BI dashboard design and anomaly detection</a:t>
            </a:r>
            <a:endParaRPr lang="en-US" sz="1417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E7B1A65-EDF1-4A08-788C-E527604CFBD1}"/>
              </a:ext>
            </a:extLst>
          </p:cNvPr>
          <p:cNvSpPr/>
          <p:nvPr/>
        </p:nvSpPr>
        <p:spPr>
          <a:xfrm>
            <a:off x="631925" y="4712792"/>
            <a:ext cx="180479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latin typeface="Dela Gothic One Light" pitchFamily="34" charset="0"/>
                <a:ea typeface="Dela Gothic One Light" pitchFamily="34" charset="-122"/>
                <a:cs typeface="Dela Gothic One Light" pitchFamily="34" charset="-120"/>
              </a:rPr>
              <a:t>05</a:t>
            </a:r>
            <a:endParaRPr lang="en-US" sz="1417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1BF5772E-3010-5B2D-4A0F-3149EAE35647}"/>
              </a:ext>
            </a:extLst>
          </p:cNvPr>
          <p:cNvSpPr/>
          <p:nvPr/>
        </p:nvSpPr>
        <p:spPr>
          <a:xfrm>
            <a:off x="631924" y="4994077"/>
            <a:ext cx="5373787" cy="25400"/>
          </a:xfrm>
          <a:prstGeom prst="rect">
            <a:avLst/>
          </a:prstGeom>
          <a:solidFill>
            <a:srgbClr val="C91313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4729FC1-F75C-A21B-46D0-B0585D63E11A}"/>
              </a:ext>
            </a:extLst>
          </p:cNvPr>
          <p:cNvSpPr/>
          <p:nvPr/>
        </p:nvSpPr>
        <p:spPr>
          <a:xfrm>
            <a:off x="631924" y="5135067"/>
            <a:ext cx="3195340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833" dirty="0"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Challenges &amp; Solutions</a:t>
            </a:r>
            <a:endParaRPr lang="en-US" sz="1833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D70633E-9C67-6A24-ECA0-0E063BCC316A}"/>
              </a:ext>
            </a:extLst>
          </p:cNvPr>
          <p:cNvSpPr/>
          <p:nvPr/>
        </p:nvSpPr>
        <p:spPr>
          <a:xfrm>
            <a:off x="631924" y="5540177"/>
            <a:ext cx="5373787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Obstacles encountered and mitigation strategies</a:t>
            </a:r>
            <a:endParaRPr lang="en-US" sz="1417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1ED6C84-F515-3BEA-16DF-1C2928582E41}"/>
              </a:ext>
            </a:extLst>
          </p:cNvPr>
          <p:cNvSpPr/>
          <p:nvPr/>
        </p:nvSpPr>
        <p:spPr>
          <a:xfrm>
            <a:off x="6186191" y="4712792"/>
            <a:ext cx="180479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latin typeface="Dela Gothic One Light" pitchFamily="34" charset="0"/>
                <a:ea typeface="Dela Gothic One Light" pitchFamily="34" charset="-122"/>
                <a:cs typeface="Dela Gothic One Light" pitchFamily="34" charset="-120"/>
              </a:rPr>
              <a:t>06</a:t>
            </a:r>
            <a:endParaRPr lang="en-US" sz="1417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2884AB22-F680-FA59-21AF-404E7B313F76}"/>
              </a:ext>
            </a:extLst>
          </p:cNvPr>
          <p:cNvSpPr/>
          <p:nvPr/>
        </p:nvSpPr>
        <p:spPr>
          <a:xfrm>
            <a:off x="6186190" y="4994077"/>
            <a:ext cx="5373886" cy="25400"/>
          </a:xfrm>
          <a:prstGeom prst="rect">
            <a:avLst/>
          </a:prstGeom>
          <a:solidFill>
            <a:srgbClr val="C91313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CE130C3-07DC-A1D6-6C69-DDC8F9A2A16E}"/>
              </a:ext>
            </a:extLst>
          </p:cNvPr>
          <p:cNvSpPr/>
          <p:nvPr/>
        </p:nvSpPr>
        <p:spPr>
          <a:xfrm>
            <a:off x="6186191" y="5135067"/>
            <a:ext cx="237559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833" dirty="0"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Future Roadmap</a:t>
            </a:r>
            <a:endParaRPr lang="en-US" sz="1833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BBFDEAC9-82CA-418D-4CD0-24691E60FF2F}"/>
              </a:ext>
            </a:extLst>
          </p:cNvPr>
          <p:cNvSpPr/>
          <p:nvPr/>
        </p:nvSpPr>
        <p:spPr>
          <a:xfrm>
            <a:off x="6186190" y="5540177"/>
            <a:ext cx="5373886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Machine learning integration and advanced analytics</a:t>
            </a:r>
            <a:endParaRPr lang="en-US" sz="1417" dirty="0"/>
          </a:p>
        </p:txBody>
      </p:sp>
    </p:spTree>
    <p:extLst>
      <p:ext uri="{BB962C8B-B14F-4D97-AF65-F5344CB8AC3E}">
        <p14:creationId xmlns:p14="http://schemas.microsoft.com/office/powerpoint/2010/main" val="3535965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64266C6-6292-F0A7-2629-16072402373F}"/>
              </a:ext>
            </a:extLst>
          </p:cNvPr>
          <p:cNvSpPr/>
          <p:nvPr/>
        </p:nvSpPr>
        <p:spPr>
          <a:xfrm>
            <a:off x="631925" y="1445319"/>
            <a:ext cx="9156799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66"/>
              </a:lnSpc>
            </a:pPr>
            <a:r>
              <a:rPr lang="en-US" sz="3708" b="1" dirty="0"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Why Crop Yield Analysis Matters</a:t>
            </a:r>
            <a:endParaRPr lang="en-US" sz="3708" b="1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268AFD0-87D6-BB5D-C0B6-756A20CF3E20}"/>
              </a:ext>
            </a:extLst>
          </p:cNvPr>
          <p:cNvSpPr/>
          <p:nvPr/>
        </p:nvSpPr>
        <p:spPr>
          <a:xfrm>
            <a:off x="631924" y="2400300"/>
            <a:ext cx="3522365" cy="2231331"/>
          </a:xfrm>
          <a:prstGeom prst="roundRect">
            <a:avLst>
              <a:gd name="adj" fmla="val 3399"/>
            </a:avLst>
          </a:prstGeom>
          <a:solidFill>
            <a:schemeClr val="tx2">
              <a:lumMod val="25000"/>
              <a:lumOff val="75000"/>
            </a:schemeClr>
          </a:solidFill>
          <a:ln w="762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FB6F8CE-8A1E-DA1C-90BF-1954E0B7705E}"/>
              </a:ext>
            </a:extLst>
          </p:cNvPr>
          <p:cNvSpPr/>
          <p:nvPr/>
        </p:nvSpPr>
        <p:spPr>
          <a:xfrm>
            <a:off x="818753" y="2587129"/>
            <a:ext cx="3148707" cy="593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833" dirty="0"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Optimize Resource Allocation</a:t>
            </a:r>
            <a:endParaRPr lang="en-US" sz="1833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DCAD2A8-830B-10E9-69C1-005DE6955141}"/>
              </a:ext>
            </a:extLst>
          </p:cNvPr>
          <p:cNvSpPr/>
          <p:nvPr/>
        </p:nvSpPr>
        <p:spPr>
          <a:xfrm>
            <a:off x="818753" y="3289102"/>
            <a:ext cx="3148707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Efficient use of water, fertilizers, and labor based on historical yield patterns and environmental factors</a:t>
            </a:r>
            <a:endParaRPr lang="en-US" sz="1417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2323D6C-4B23-3A01-6E9A-4F24FF6D0942}"/>
              </a:ext>
            </a:extLst>
          </p:cNvPr>
          <p:cNvSpPr/>
          <p:nvPr/>
        </p:nvSpPr>
        <p:spPr>
          <a:xfrm>
            <a:off x="4334768" y="2400300"/>
            <a:ext cx="3522365" cy="2231331"/>
          </a:xfrm>
          <a:prstGeom prst="roundRect">
            <a:avLst>
              <a:gd name="adj" fmla="val 3399"/>
            </a:avLst>
          </a:prstGeom>
          <a:solidFill>
            <a:schemeClr val="tx2">
              <a:lumMod val="25000"/>
              <a:lumOff val="75000"/>
            </a:schemeClr>
          </a:solidFill>
          <a:ln w="762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A1A09D0-ED38-F75D-726E-43D6B5FD1009}"/>
              </a:ext>
            </a:extLst>
          </p:cNvPr>
          <p:cNvSpPr/>
          <p:nvPr/>
        </p:nvSpPr>
        <p:spPr>
          <a:xfrm>
            <a:off x="4521597" y="2587129"/>
            <a:ext cx="3148707" cy="593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833" dirty="0"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Predict Market Trends</a:t>
            </a:r>
            <a:endParaRPr lang="en-US" sz="1833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5058E24-5AEA-B809-DB17-49DF74FB55F5}"/>
              </a:ext>
            </a:extLst>
          </p:cNvPr>
          <p:cNvSpPr/>
          <p:nvPr/>
        </p:nvSpPr>
        <p:spPr>
          <a:xfrm>
            <a:off x="4521597" y="3289102"/>
            <a:ext cx="3148707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Forecast supply dynamics to support strategic planning and reduce waste in the agricultural supply chain</a:t>
            </a:r>
            <a:endParaRPr lang="en-US" sz="1417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C1E5493-E6A3-EEFD-FACF-C8264B46257C}"/>
              </a:ext>
            </a:extLst>
          </p:cNvPr>
          <p:cNvSpPr/>
          <p:nvPr/>
        </p:nvSpPr>
        <p:spPr>
          <a:xfrm>
            <a:off x="8037612" y="2400300"/>
            <a:ext cx="3522464" cy="2231331"/>
          </a:xfrm>
          <a:prstGeom prst="roundRect">
            <a:avLst>
              <a:gd name="adj" fmla="val 3399"/>
            </a:avLst>
          </a:prstGeom>
          <a:solidFill>
            <a:schemeClr val="tx2">
              <a:lumMod val="25000"/>
              <a:lumOff val="75000"/>
            </a:schemeClr>
          </a:solidFill>
          <a:ln w="762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9385C5A-F013-1A72-AE83-D70CF818705A}"/>
              </a:ext>
            </a:extLst>
          </p:cNvPr>
          <p:cNvSpPr/>
          <p:nvPr/>
        </p:nvSpPr>
        <p:spPr>
          <a:xfrm>
            <a:off x="8224441" y="2587129"/>
            <a:ext cx="3148807" cy="593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833" dirty="0"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Identify Performance Gaps</a:t>
            </a:r>
            <a:endParaRPr lang="en-US" sz="1833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75D3E72-E87B-B56D-B81D-356DA162DE42}"/>
              </a:ext>
            </a:extLst>
          </p:cNvPr>
          <p:cNvSpPr/>
          <p:nvPr/>
        </p:nvSpPr>
        <p:spPr>
          <a:xfrm>
            <a:off x="8224441" y="3289102"/>
            <a:ext cx="3148807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Detect underperforming regions and crops to implement targeted interventions and improve overall productivity</a:t>
            </a:r>
            <a:endParaRPr lang="en-US" sz="1417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7E0D943-D882-CE9C-E011-9C6C41A80289}"/>
              </a:ext>
            </a:extLst>
          </p:cNvPr>
          <p:cNvSpPr/>
          <p:nvPr/>
        </p:nvSpPr>
        <p:spPr>
          <a:xfrm>
            <a:off x="631924" y="4834732"/>
            <a:ext cx="10928152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Data-driven insights enable stakeholders to make informed decisions that directly impact profitability, sustainability, and food security.</a:t>
            </a:r>
            <a:endParaRPr lang="en-US" sz="1417" dirty="0"/>
          </a:p>
        </p:txBody>
      </p:sp>
    </p:spTree>
    <p:extLst>
      <p:ext uri="{BB962C8B-B14F-4D97-AF65-F5344CB8AC3E}">
        <p14:creationId xmlns:p14="http://schemas.microsoft.com/office/powerpoint/2010/main" val="2987730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507A64E-321B-784C-0242-8ECE72C4798D}"/>
              </a:ext>
            </a:extLst>
          </p:cNvPr>
          <p:cNvSpPr/>
          <p:nvPr/>
        </p:nvSpPr>
        <p:spPr>
          <a:xfrm>
            <a:off x="569714" y="578446"/>
            <a:ext cx="11052572" cy="1017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000"/>
              </a:lnSpc>
            </a:pPr>
            <a:r>
              <a:rPr lang="en-US" sz="3167" b="1" dirty="0"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Medallion Architecture: A Layered Approach to Data Excellence</a:t>
            </a:r>
            <a:endParaRPr lang="en-US" sz="3167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83673ED-FD78-C4B7-22F9-D063328DE5FF}"/>
              </a:ext>
            </a:extLst>
          </p:cNvPr>
          <p:cNvSpPr/>
          <p:nvPr/>
        </p:nvSpPr>
        <p:spPr>
          <a:xfrm>
            <a:off x="569714" y="1921371"/>
            <a:ext cx="11052572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sz="1250" dirty="0">
                <a:latin typeface="Fira Sans" pitchFamily="34" charset="0"/>
                <a:ea typeface="Fira Sans" pitchFamily="34" charset="-122"/>
                <a:cs typeface="Fira Sans" pitchFamily="34" charset="-120"/>
              </a:rPr>
              <a:t>The Medallion Architecture organizes data into three progressive quality layers, transforming raw inputs into business-ready insights through systematic refinement.</a:t>
            </a:r>
            <a:endParaRPr lang="en-US" sz="12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A8471A8-2D8B-943F-79B7-33E2FEE72F16}"/>
              </a:ext>
            </a:extLst>
          </p:cNvPr>
          <p:cNvSpPr/>
          <p:nvPr/>
        </p:nvSpPr>
        <p:spPr>
          <a:xfrm>
            <a:off x="813892" y="3276501"/>
            <a:ext cx="3331369" cy="162718"/>
          </a:xfrm>
          <a:prstGeom prst="roundRect">
            <a:avLst>
              <a:gd name="adj" fmla="val 15007"/>
            </a:avLst>
          </a:prstGeom>
          <a:solidFill>
            <a:schemeClr val="tx2">
              <a:lumMod val="25000"/>
              <a:lumOff val="75000"/>
            </a:schemeClr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9D23BED-9F65-DF4C-7E44-94AA7BABCEBF}"/>
              </a:ext>
            </a:extLst>
          </p:cNvPr>
          <p:cNvSpPr/>
          <p:nvPr/>
        </p:nvSpPr>
        <p:spPr>
          <a:xfrm>
            <a:off x="569714" y="3113683"/>
            <a:ext cx="488355" cy="488355"/>
          </a:xfrm>
          <a:prstGeom prst="roundRect">
            <a:avLst>
              <a:gd name="adj" fmla="val 78017"/>
            </a:avLst>
          </a:prstGeom>
          <a:solidFill>
            <a:srgbClr val="433550"/>
          </a:solidFill>
          <a:ln/>
        </p:spPr>
        <p:txBody>
          <a:bodyPr/>
          <a:lstStyle/>
          <a:p>
            <a:endParaRPr lang="en-US" sz="150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64AEDEFF-FB0C-0E80-98DA-0A89E78DA9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754" y="3235722"/>
            <a:ext cx="244178" cy="244178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B9DDED55-6F1B-9E71-9398-4A7D2C2BD4F3}"/>
              </a:ext>
            </a:extLst>
          </p:cNvPr>
          <p:cNvSpPr/>
          <p:nvPr/>
        </p:nvSpPr>
        <p:spPr>
          <a:xfrm>
            <a:off x="732433" y="3764757"/>
            <a:ext cx="3250208" cy="508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583" b="1" dirty="0"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Bronze Layer: Raw Data Foundation</a:t>
            </a:r>
            <a:endParaRPr lang="en-US" sz="1583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ABB070C-DE39-6D32-242E-26F51EE19512}"/>
              </a:ext>
            </a:extLst>
          </p:cNvPr>
          <p:cNvSpPr/>
          <p:nvPr/>
        </p:nvSpPr>
        <p:spPr>
          <a:xfrm>
            <a:off x="732433" y="4370983"/>
            <a:ext cx="3250208" cy="1302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sz="1250" dirty="0">
                <a:latin typeface="Fira Sans" pitchFamily="34" charset="0"/>
                <a:ea typeface="Fira Sans" pitchFamily="34" charset="-122"/>
                <a:cs typeface="Fira Sans" pitchFamily="34" charset="-120"/>
              </a:rPr>
              <a:t>Ingests and preserves raw, unprocessed data in its original form. Serves as the immutable historical archive and single source of truth for all downstream processes.</a:t>
            </a:r>
            <a:endParaRPr lang="en-US" sz="12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1B9B38E4-7923-31F8-2F4C-6E56F72AAF34}"/>
              </a:ext>
            </a:extLst>
          </p:cNvPr>
          <p:cNvSpPr/>
          <p:nvPr/>
        </p:nvSpPr>
        <p:spPr>
          <a:xfrm>
            <a:off x="4552256" y="3032324"/>
            <a:ext cx="3331468" cy="162718"/>
          </a:xfrm>
          <a:prstGeom prst="roundRect">
            <a:avLst>
              <a:gd name="adj" fmla="val 15007"/>
            </a:avLst>
          </a:prstGeom>
          <a:solidFill>
            <a:schemeClr val="tx2">
              <a:lumMod val="25000"/>
              <a:lumOff val="75000"/>
            </a:schemeClr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679D99DA-E32C-BEFE-E409-FCB81F818B70}"/>
              </a:ext>
            </a:extLst>
          </p:cNvPr>
          <p:cNvSpPr/>
          <p:nvPr/>
        </p:nvSpPr>
        <p:spPr>
          <a:xfrm>
            <a:off x="4308078" y="2869506"/>
            <a:ext cx="488355" cy="488355"/>
          </a:xfrm>
          <a:prstGeom prst="roundRect">
            <a:avLst>
              <a:gd name="adj" fmla="val 78017"/>
            </a:avLst>
          </a:prstGeom>
          <a:solidFill>
            <a:srgbClr val="433550"/>
          </a:solidFill>
          <a:ln/>
        </p:spPr>
        <p:txBody>
          <a:bodyPr/>
          <a:lstStyle/>
          <a:p>
            <a:endParaRPr lang="en-US" sz="1500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FC326AAD-2465-2D0F-9F3D-45880FE793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30118" y="2991544"/>
            <a:ext cx="244178" cy="244178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4A6BFF60-C182-7F8A-99F0-A57BA90021BA}"/>
              </a:ext>
            </a:extLst>
          </p:cNvPr>
          <p:cNvSpPr/>
          <p:nvPr/>
        </p:nvSpPr>
        <p:spPr>
          <a:xfrm>
            <a:off x="4470797" y="3520579"/>
            <a:ext cx="3250307" cy="508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583" b="1" dirty="0"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Silver Layer: Cleansed &amp; Standardized</a:t>
            </a:r>
            <a:endParaRPr lang="en-US" sz="1583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9EDCA631-9B35-6D94-1E2D-A438E95B5034}"/>
              </a:ext>
            </a:extLst>
          </p:cNvPr>
          <p:cNvSpPr/>
          <p:nvPr/>
        </p:nvSpPr>
        <p:spPr>
          <a:xfrm>
            <a:off x="4470797" y="4126806"/>
            <a:ext cx="3250307" cy="1302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sz="1250" dirty="0">
                <a:latin typeface="Fira Sans" pitchFamily="34" charset="0"/>
                <a:ea typeface="Fira Sans" pitchFamily="34" charset="-122"/>
                <a:cs typeface="Fira Sans" pitchFamily="34" charset="-120"/>
              </a:rPr>
              <a:t>Applies data quality rules, deduplication, and schema conformance. Creates validated, consistent datasets ready for analytical workloads and advanced data science applications.</a:t>
            </a:r>
            <a:endParaRPr lang="en-US" sz="125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593BB3A7-AC2F-8614-0276-AD67E85489FF}"/>
              </a:ext>
            </a:extLst>
          </p:cNvPr>
          <p:cNvSpPr/>
          <p:nvPr/>
        </p:nvSpPr>
        <p:spPr>
          <a:xfrm>
            <a:off x="8290719" y="2788146"/>
            <a:ext cx="3331468" cy="162718"/>
          </a:xfrm>
          <a:prstGeom prst="roundRect">
            <a:avLst>
              <a:gd name="adj" fmla="val 15007"/>
            </a:avLst>
          </a:prstGeom>
          <a:solidFill>
            <a:schemeClr val="tx2">
              <a:lumMod val="25000"/>
              <a:lumOff val="75000"/>
            </a:schemeClr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112D8A8D-CC6F-D84C-6D8D-4817BF21DDEA}"/>
              </a:ext>
            </a:extLst>
          </p:cNvPr>
          <p:cNvSpPr/>
          <p:nvPr/>
        </p:nvSpPr>
        <p:spPr>
          <a:xfrm>
            <a:off x="8046542" y="2625328"/>
            <a:ext cx="488355" cy="488355"/>
          </a:xfrm>
          <a:prstGeom prst="roundRect">
            <a:avLst>
              <a:gd name="adj" fmla="val 78017"/>
            </a:avLst>
          </a:prstGeom>
          <a:solidFill>
            <a:srgbClr val="433550"/>
          </a:solidFill>
          <a:ln/>
        </p:spPr>
        <p:txBody>
          <a:bodyPr/>
          <a:lstStyle/>
          <a:p>
            <a:endParaRPr lang="en-US" sz="1500"/>
          </a:p>
        </p:txBody>
      </p:sp>
      <p:pic>
        <p:nvPicPr>
          <p:cNvPr id="16" name="Image 2" descr="preencoded.png">
            <a:extLst>
              <a:ext uri="{FF2B5EF4-FFF2-40B4-BE49-F238E27FC236}">
                <a16:creationId xmlns:a16="http://schemas.microsoft.com/office/drawing/2014/main" id="{A370BB84-673F-AAB0-90D1-71B38F5EF4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68581" y="2747368"/>
            <a:ext cx="244178" cy="244178"/>
          </a:xfrm>
          <a:prstGeom prst="rect">
            <a:avLst/>
          </a:prstGeom>
        </p:spPr>
      </p:pic>
      <p:sp>
        <p:nvSpPr>
          <p:cNvPr id="17" name="Text 12">
            <a:extLst>
              <a:ext uri="{FF2B5EF4-FFF2-40B4-BE49-F238E27FC236}">
                <a16:creationId xmlns:a16="http://schemas.microsoft.com/office/drawing/2014/main" id="{B75A153D-EEE6-1494-50EA-708EF34FDF69}"/>
              </a:ext>
            </a:extLst>
          </p:cNvPr>
          <p:cNvSpPr/>
          <p:nvPr/>
        </p:nvSpPr>
        <p:spPr>
          <a:xfrm>
            <a:off x="8209260" y="3276402"/>
            <a:ext cx="3250307" cy="508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583" b="1" dirty="0"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Gold Layer: Business-Ready Analytics</a:t>
            </a:r>
            <a:endParaRPr lang="en-US" sz="1583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214AAAE7-047E-70CB-8CB4-B1F234D6309C}"/>
              </a:ext>
            </a:extLst>
          </p:cNvPr>
          <p:cNvSpPr/>
          <p:nvPr/>
        </p:nvSpPr>
        <p:spPr>
          <a:xfrm>
            <a:off x="8209260" y="3882629"/>
            <a:ext cx="3250307" cy="1302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sz="1250" dirty="0">
                <a:latin typeface="Fira Sans" pitchFamily="34" charset="0"/>
                <a:ea typeface="Fira Sans" pitchFamily="34" charset="-122"/>
                <a:cs typeface="Fira Sans" pitchFamily="34" charset="-120"/>
              </a:rPr>
              <a:t>Delivers refined, aggregated data products optimized for specific use cases. Powers executive dashboards, KPI tracking, machine learning models, and strategic business intelligence.</a:t>
            </a:r>
            <a:endParaRPr lang="en-US" sz="125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DBB40BE7-6A05-697F-DC49-E894DAA13C54}"/>
              </a:ext>
            </a:extLst>
          </p:cNvPr>
          <p:cNvSpPr/>
          <p:nvPr/>
        </p:nvSpPr>
        <p:spPr>
          <a:xfrm>
            <a:off x="569714" y="6019007"/>
            <a:ext cx="11052572" cy="260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sz="1250" dirty="0">
                <a:latin typeface="Fira Sans" pitchFamily="34" charset="0"/>
                <a:ea typeface="Fira Sans" pitchFamily="34" charset="-122"/>
                <a:cs typeface="Fira Sans" pitchFamily="34" charset="-120"/>
              </a:rPr>
              <a:t>This progressive refinement ensures data quality improves at each stage, enabling both data governance and rapid time-to-insight for business users.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067598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E429167-19D0-8A09-15D0-3743855E9A37}"/>
              </a:ext>
            </a:extLst>
          </p:cNvPr>
          <p:cNvSpPr/>
          <p:nvPr/>
        </p:nvSpPr>
        <p:spPr>
          <a:xfrm>
            <a:off x="536575" y="421581"/>
            <a:ext cx="6132612" cy="479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50"/>
              </a:lnSpc>
            </a:pPr>
            <a:r>
              <a:rPr lang="en-US" sz="3000" b="1" dirty="0"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Bronze Layer: Raw Data Ingestion</a:t>
            </a:r>
            <a:endParaRPr lang="en-US" sz="3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FAF4C86-28AA-8C5F-F48F-6CB32A230F6C}"/>
              </a:ext>
            </a:extLst>
          </p:cNvPr>
          <p:cNvSpPr/>
          <p:nvPr/>
        </p:nvSpPr>
        <p:spPr>
          <a:xfrm>
            <a:off x="536575" y="1207194"/>
            <a:ext cx="3604022" cy="1987153"/>
          </a:xfrm>
          <a:prstGeom prst="roundRect">
            <a:avLst>
              <a:gd name="adj" fmla="val 1157"/>
            </a:avLst>
          </a:prstGeom>
          <a:solidFill>
            <a:schemeClr val="tx2">
              <a:lumMod val="25000"/>
              <a:lumOff val="75000"/>
            </a:schemeClr>
          </a:solidFill>
          <a:ln/>
        </p:spPr>
        <p:txBody>
          <a:bodyPr/>
          <a:lstStyle/>
          <a:p>
            <a:endParaRPr lang="en-US" sz="150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C107C7AA-7EDC-DACE-E942-B5C15C15C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69" y="1360488"/>
            <a:ext cx="459879" cy="459879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1A5CF5A6-B360-E401-6AA6-66CDAB0333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6273" y="1486893"/>
            <a:ext cx="206970" cy="206970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473A2F3D-6957-C5E2-964E-29B3FE178D96}"/>
              </a:ext>
            </a:extLst>
          </p:cNvPr>
          <p:cNvSpPr/>
          <p:nvPr/>
        </p:nvSpPr>
        <p:spPr>
          <a:xfrm>
            <a:off x="689869" y="1973659"/>
            <a:ext cx="2107506" cy="239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500" b="1" dirty="0"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Unprocessed Collection</a:t>
            </a:r>
            <a:endParaRPr lang="en-US" sz="15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66F1707D-7EFF-EFA0-4BC7-FA37786F2996}"/>
              </a:ext>
            </a:extLst>
          </p:cNvPr>
          <p:cNvSpPr/>
          <p:nvPr/>
        </p:nvSpPr>
        <p:spPr>
          <a:xfrm>
            <a:off x="689869" y="2305248"/>
            <a:ext cx="3297436" cy="735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167" dirty="0">
                <a:latin typeface="Fira Sans" pitchFamily="34" charset="0"/>
                <a:ea typeface="Fira Sans" pitchFamily="34" charset="-122"/>
                <a:cs typeface="Fira Sans" pitchFamily="34" charset="-120"/>
              </a:rPr>
              <a:t>Raw CSV files ingested using a flexible loader that detects delimiters and preserves original schema for traceability.</a:t>
            </a:r>
            <a:endParaRPr lang="en-US" sz="1167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250CFF2E-860E-AAA4-DB58-FD99754300AD}"/>
              </a:ext>
            </a:extLst>
          </p:cNvPr>
          <p:cNvSpPr/>
          <p:nvPr/>
        </p:nvSpPr>
        <p:spPr>
          <a:xfrm>
            <a:off x="4293890" y="1207194"/>
            <a:ext cx="3604121" cy="1987153"/>
          </a:xfrm>
          <a:prstGeom prst="roundRect">
            <a:avLst>
              <a:gd name="adj" fmla="val 1157"/>
            </a:avLst>
          </a:prstGeom>
          <a:solidFill>
            <a:schemeClr val="tx2">
              <a:lumMod val="25000"/>
              <a:lumOff val="75000"/>
            </a:schemeClr>
          </a:solidFill>
          <a:ln/>
        </p:spPr>
        <p:txBody>
          <a:bodyPr/>
          <a:lstStyle/>
          <a:p>
            <a:endParaRPr lang="en-US" sz="150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A67083ED-C1BC-4974-CC4C-A737D64624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7183" y="1360488"/>
            <a:ext cx="459879" cy="459879"/>
          </a:xfrm>
          <a:prstGeom prst="rect">
            <a:avLst/>
          </a:prstGeom>
        </p:spPr>
      </p:pic>
      <p:pic>
        <p:nvPicPr>
          <p:cNvPr id="10" name="Image 3" descr="preencoded.png">
            <a:extLst>
              <a:ext uri="{FF2B5EF4-FFF2-40B4-BE49-F238E27FC236}">
                <a16:creationId xmlns:a16="http://schemas.microsoft.com/office/drawing/2014/main" id="{10834B44-45DD-7701-A9BA-76806F709B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73588" y="1486893"/>
            <a:ext cx="206970" cy="206970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8629EBB6-3A4B-52D9-989D-69F17B486D10}"/>
              </a:ext>
            </a:extLst>
          </p:cNvPr>
          <p:cNvSpPr/>
          <p:nvPr/>
        </p:nvSpPr>
        <p:spPr>
          <a:xfrm>
            <a:off x="4447183" y="1973659"/>
            <a:ext cx="1916509" cy="239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500" b="1" dirty="0"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Rainfall Data</a:t>
            </a:r>
            <a:endParaRPr lang="en-US" sz="150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F2B81448-67D6-B7A1-0814-1C0BF45F4049}"/>
              </a:ext>
            </a:extLst>
          </p:cNvPr>
          <p:cNvSpPr/>
          <p:nvPr/>
        </p:nvSpPr>
        <p:spPr>
          <a:xfrm>
            <a:off x="4447183" y="2305249"/>
            <a:ext cx="3297535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167" dirty="0">
                <a:latin typeface="Fira Sans" pitchFamily="34" charset="0"/>
                <a:ea typeface="Fira Sans" pitchFamily="34" charset="-122"/>
                <a:cs typeface="Fira Sans" pitchFamily="34" charset="-120"/>
              </a:rPr>
              <a:t>Raw precipitation measurements from weather stations and sensors across crop regions</a:t>
            </a:r>
            <a:endParaRPr lang="en-US" sz="1167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35A052B-644F-058E-5840-BBB6C79D697D}"/>
              </a:ext>
            </a:extLst>
          </p:cNvPr>
          <p:cNvSpPr/>
          <p:nvPr/>
        </p:nvSpPr>
        <p:spPr>
          <a:xfrm>
            <a:off x="8051305" y="1207194"/>
            <a:ext cx="3604121" cy="1987153"/>
          </a:xfrm>
          <a:prstGeom prst="roundRect">
            <a:avLst>
              <a:gd name="adj" fmla="val 1157"/>
            </a:avLst>
          </a:prstGeom>
          <a:solidFill>
            <a:schemeClr val="tx2">
              <a:lumMod val="25000"/>
              <a:lumOff val="75000"/>
            </a:schemeClr>
          </a:solidFill>
          <a:ln/>
        </p:spPr>
        <p:txBody>
          <a:bodyPr/>
          <a:lstStyle/>
          <a:p>
            <a:endParaRPr lang="en-US" sz="1500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5AEDA89E-C38D-7D96-2B53-9B191F306C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4597" y="1360488"/>
            <a:ext cx="459879" cy="459879"/>
          </a:xfrm>
          <a:prstGeom prst="rect">
            <a:avLst/>
          </a:prstGeom>
        </p:spPr>
      </p:pic>
      <p:pic>
        <p:nvPicPr>
          <p:cNvPr id="15" name="Image 5" descr="preencoded.png">
            <a:extLst>
              <a:ext uri="{FF2B5EF4-FFF2-40B4-BE49-F238E27FC236}">
                <a16:creationId xmlns:a16="http://schemas.microsoft.com/office/drawing/2014/main" id="{62F717CB-BF28-CCC8-7C9F-88203066A01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31002" y="1486893"/>
            <a:ext cx="206970" cy="206970"/>
          </a:xfrm>
          <a:prstGeom prst="rect">
            <a:avLst/>
          </a:prstGeom>
        </p:spPr>
      </p:pic>
      <p:sp>
        <p:nvSpPr>
          <p:cNvPr id="16" name="Text 8">
            <a:extLst>
              <a:ext uri="{FF2B5EF4-FFF2-40B4-BE49-F238E27FC236}">
                <a16:creationId xmlns:a16="http://schemas.microsoft.com/office/drawing/2014/main" id="{7DA1834C-44F7-9F8D-F0F3-E7DC00B33036}"/>
              </a:ext>
            </a:extLst>
          </p:cNvPr>
          <p:cNvSpPr/>
          <p:nvPr/>
        </p:nvSpPr>
        <p:spPr>
          <a:xfrm>
            <a:off x="8204597" y="1973659"/>
            <a:ext cx="1916509" cy="239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500" b="1" dirty="0"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Pesticide Records</a:t>
            </a:r>
            <a:endParaRPr lang="en-US" sz="1500" dirty="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DD07D529-61D6-2FCE-148D-E71CF55C5812}"/>
              </a:ext>
            </a:extLst>
          </p:cNvPr>
          <p:cNvSpPr/>
          <p:nvPr/>
        </p:nvSpPr>
        <p:spPr>
          <a:xfrm>
            <a:off x="8204597" y="2305248"/>
            <a:ext cx="3297535" cy="735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167" dirty="0">
                <a:latin typeface="Fira Sans" pitchFamily="34" charset="0"/>
                <a:ea typeface="Fira Sans" pitchFamily="34" charset="-122"/>
                <a:cs typeface="Fira Sans" pitchFamily="34" charset="-120"/>
              </a:rPr>
              <a:t>Pesticide usage across the various countries over the years .</a:t>
            </a:r>
            <a:endParaRPr lang="en-US" sz="1167" dirty="0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DB815839-9451-7523-9486-6A3FE66D5D4B}"/>
              </a:ext>
            </a:extLst>
          </p:cNvPr>
          <p:cNvSpPr/>
          <p:nvPr/>
        </p:nvSpPr>
        <p:spPr>
          <a:xfrm>
            <a:off x="536576" y="3347641"/>
            <a:ext cx="5482729" cy="1741884"/>
          </a:xfrm>
          <a:prstGeom prst="roundRect">
            <a:avLst>
              <a:gd name="adj" fmla="val 1320"/>
            </a:avLst>
          </a:prstGeom>
          <a:solidFill>
            <a:schemeClr val="tx2">
              <a:lumMod val="25000"/>
              <a:lumOff val="75000"/>
            </a:schemeClr>
          </a:solidFill>
          <a:ln/>
        </p:spPr>
        <p:txBody>
          <a:bodyPr/>
          <a:lstStyle/>
          <a:p>
            <a:endParaRPr lang="en-US" sz="1500"/>
          </a:p>
        </p:txBody>
      </p:sp>
      <p:pic>
        <p:nvPicPr>
          <p:cNvPr id="19" name="Image 6" descr="preencoded.png">
            <a:extLst>
              <a:ext uri="{FF2B5EF4-FFF2-40B4-BE49-F238E27FC236}">
                <a16:creationId xmlns:a16="http://schemas.microsoft.com/office/drawing/2014/main" id="{898B850A-0BD2-185B-8322-24512D0F93D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9869" y="3500934"/>
            <a:ext cx="459879" cy="459879"/>
          </a:xfrm>
          <a:prstGeom prst="rect">
            <a:avLst/>
          </a:prstGeom>
        </p:spPr>
      </p:pic>
      <p:pic>
        <p:nvPicPr>
          <p:cNvPr id="20" name="Image 7" descr="preencoded.png">
            <a:extLst>
              <a:ext uri="{FF2B5EF4-FFF2-40B4-BE49-F238E27FC236}">
                <a16:creationId xmlns:a16="http://schemas.microsoft.com/office/drawing/2014/main" id="{05030D27-98F3-EAB2-0C45-7E60399F4E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16273" y="3627338"/>
            <a:ext cx="206970" cy="206970"/>
          </a:xfrm>
          <a:prstGeom prst="rect">
            <a:avLst/>
          </a:prstGeom>
        </p:spPr>
      </p:pic>
      <p:sp>
        <p:nvSpPr>
          <p:cNvPr id="21" name="Text 11">
            <a:extLst>
              <a:ext uri="{FF2B5EF4-FFF2-40B4-BE49-F238E27FC236}">
                <a16:creationId xmlns:a16="http://schemas.microsoft.com/office/drawing/2014/main" id="{7F33BF17-5834-526D-48AB-91FD916AF3E5}"/>
              </a:ext>
            </a:extLst>
          </p:cNvPr>
          <p:cNvSpPr/>
          <p:nvPr/>
        </p:nvSpPr>
        <p:spPr>
          <a:xfrm>
            <a:off x="689869" y="4114106"/>
            <a:ext cx="1916509" cy="239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500" b="1" dirty="0"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Yield Measurements</a:t>
            </a:r>
            <a:endParaRPr lang="en-US" sz="1500" dirty="0"/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469A18FA-8833-1178-40A5-D74DB7DC996B}"/>
              </a:ext>
            </a:extLst>
          </p:cNvPr>
          <p:cNvSpPr/>
          <p:nvPr/>
        </p:nvSpPr>
        <p:spPr>
          <a:xfrm>
            <a:off x="689869" y="4445694"/>
            <a:ext cx="5176143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167" dirty="0">
                <a:latin typeface="Fira Sans" pitchFamily="34" charset="0"/>
                <a:ea typeface="Fira Sans" pitchFamily="34" charset="-122"/>
                <a:cs typeface="Fira Sans" pitchFamily="34" charset="-120"/>
              </a:rPr>
              <a:t>Unprocessed crop yield data collected directly from harvesting operations and field assessments</a:t>
            </a:r>
            <a:endParaRPr lang="en-US" sz="1167" dirty="0"/>
          </a:p>
        </p:txBody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4291760C-D81C-D101-D411-72376DAE5244}"/>
              </a:ext>
            </a:extLst>
          </p:cNvPr>
          <p:cNvSpPr/>
          <p:nvPr/>
        </p:nvSpPr>
        <p:spPr>
          <a:xfrm>
            <a:off x="6172597" y="3347641"/>
            <a:ext cx="5482828" cy="1741884"/>
          </a:xfrm>
          <a:prstGeom prst="roundRect">
            <a:avLst>
              <a:gd name="adj" fmla="val 1320"/>
            </a:avLst>
          </a:prstGeom>
          <a:solidFill>
            <a:schemeClr val="tx2">
              <a:lumMod val="25000"/>
              <a:lumOff val="75000"/>
            </a:schemeClr>
          </a:solidFill>
          <a:ln/>
        </p:spPr>
        <p:txBody>
          <a:bodyPr/>
          <a:lstStyle/>
          <a:p>
            <a:endParaRPr lang="en-US" sz="1500"/>
          </a:p>
        </p:txBody>
      </p:sp>
      <p:pic>
        <p:nvPicPr>
          <p:cNvPr id="24" name="Image 8" descr="preencoded.png">
            <a:extLst>
              <a:ext uri="{FF2B5EF4-FFF2-40B4-BE49-F238E27FC236}">
                <a16:creationId xmlns:a16="http://schemas.microsoft.com/office/drawing/2014/main" id="{3F58D311-AC6F-B597-CA2C-C9B2E980702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5891" y="3500934"/>
            <a:ext cx="459879" cy="459879"/>
          </a:xfrm>
          <a:prstGeom prst="rect">
            <a:avLst/>
          </a:prstGeom>
        </p:spPr>
      </p:pic>
      <p:pic>
        <p:nvPicPr>
          <p:cNvPr id="25" name="Image 9" descr="preencoded.png">
            <a:extLst>
              <a:ext uri="{FF2B5EF4-FFF2-40B4-BE49-F238E27FC236}">
                <a16:creationId xmlns:a16="http://schemas.microsoft.com/office/drawing/2014/main" id="{A1A16D64-B365-ADF9-513F-AB279696B1B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52294" y="3627338"/>
            <a:ext cx="206970" cy="206970"/>
          </a:xfrm>
          <a:prstGeom prst="rect">
            <a:avLst/>
          </a:prstGeom>
        </p:spPr>
      </p:pic>
      <p:sp>
        <p:nvSpPr>
          <p:cNvPr id="26" name="Text 14">
            <a:extLst>
              <a:ext uri="{FF2B5EF4-FFF2-40B4-BE49-F238E27FC236}">
                <a16:creationId xmlns:a16="http://schemas.microsoft.com/office/drawing/2014/main" id="{463E02B9-4B39-671A-02DA-DC6133FDB02A}"/>
              </a:ext>
            </a:extLst>
          </p:cNvPr>
          <p:cNvSpPr/>
          <p:nvPr/>
        </p:nvSpPr>
        <p:spPr>
          <a:xfrm>
            <a:off x="6325891" y="4114106"/>
            <a:ext cx="1916509" cy="239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500" b="1" dirty="0"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Temperature Readings</a:t>
            </a:r>
            <a:endParaRPr lang="en-US" sz="1500" dirty="0"/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59A7378A-F6D9-55E4-36F6-5D8A7D528310}"/>
              </a:ext>
            </a:extLst>
          </p:cNvPr>
          <p:cNvSpPr/>
          <p:nvPr/>
        </p:nvSpPr>
        <p:spPr>
          <a:xfrm>
            <a:off x="6325890" y="4445694"/>
            <a:ext cx="5176243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167" dirty="0">
                <a:latin typeface="Fira Sans" pitchFamily="34" charset="0"/>
                <a:ea typeface="Fira Sans" pitchFamily="34" charset="-122"/>
                <a:cs typeface="Fira Sans" pitchFamily="34" charset="-120"/>
              </a:rPr>
              <a:t>Raw temperature data from environmental sensors monitoring daily fluctuations and patterns</a:t>
            </a:r>
            <a:endParaRPr lang="en-US" sz="1167" dirty="0"/>
          </a:p>
        </p:txBody>
      </p:sp>
      <p:sp>
        <p:nvSpPr>
          <p:cNvPr id="28" name="Text 16">
            <a:extLst>
              <a:ext uri="{FF2B5EF4-FFF2-40B4-BE49-F238E27FC236}">
                <a16:creationId xmlns:a16="http://schemas.microsoft.com/office/drawing/2014/main" id="{99003A98-C8A6-631C-FA1E-F1DADC5F7D25}"/>
              </a:ext>
            </a:extLst>
          </p:cNvPr>
          <p:cNvSpPr/>
          <p:nvPr/>
        </p:nvSpPr>
        <p:spPr>
          <a:xfrm>
            <a:off x="536575" y="5415260"/>
            <a:ext cx="2203351" cy="239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500" b="1" dirty="0"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Historical Preservation</a:t>
            </a:r>
            <a:endParaRPr lang="en-US" sz="1500" dirty="0"/>
          </a:p>
        </p:txBody>
      </p:sp>
      <p:sp>
        <p:nvSpPr>
          <p:cNvPr id="29" name="Text 17">
            <a:extLst>
              <a:ext uri="{FF2B5EF4-FFF2-40B4-BE49-F238E27FC236}">
                <a16:creationId xmlns:a16="http://schemas.microsoft.com/office/drawing/2014/main" id="{F27A4A2A-A462-B1DF-50CF-528DEB2879F6}"/>
              </a:ext>
            </a:extLst>
          </p:cNvPr>
          <p:cNvSpPr/>
          <p:nvPr/>
        </p:nvSpPr>
        <p:spPr>
          <a:xfrm>
            <a:off x="536575" y="5808167"/>
            <a:ext cx="5372398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167" dirty="0">
                <a:latin typeface="Fira Sans" pitchFamily="34" charset="0"/>
                <a:ea typeface="Fira Sans" pitchFamily="34" charset="-122"/>
                <a:cs typeface="Fira Sans" pitchFamily="34" charset="-120"/>
              </a:rPr>
              <a:t>Maintains complete historical records ensuring full traceability and enabling audit capabilities when needed</a:t>
            </a:r>
            <a:endParaRPr lang="en-US" sz="1167" dirty="0"/>
          </a:p>
        </p:txBody>
      </p:sp>
      <p:sp>
        <p:nvSpPr>
          <p:cNvPr id="31" name="Text 19">
            <a:extLst>
              <a:ext uri="{FF2B5EF4-FFF2-40B4-BE49-F238E27FC236}">
                <a16:creationId xmlns:a16="http://schemas.microsoft.com/office/drawing/2014/main" id="{9099C000-F954-E919-853D-E5448EA3D58C}"/>
              </a:ext>
            </a:extLst>
          </p:cNvPr>
          <p:cNvSpPr/>
          <p:nvPr/>
        </p:nvSpPr>
        <p:spPr>
          <a:xfrm>
            <a:off x="6289378" y="5808167"/>
            <a:ext cx="5372398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167" dirty="0">
                <a:latin typeface="Fira Sans" pitchFamily="34" charset="0"/>
                <a:ea typeface="Fira Sans" pitchFamily="34" charset="-122"/>
                <a:cs typeface="Fira Sans" pitchFamily="34" charset="-120"/>
              </a:rPr>
              <a:t>Country names are standardized later for consistency across all datasets.</a:t>
            </a:r>
            <a:endParaRPr lang="en-US" sz="1167" dirty="0"/>
          </a:p>
        </p:txBody>
      </p:sp>
    </p:spTree>
    <p:extLst>
      <p:ext uri="{BB962C8B-B14F-4D97-AF65-F5344CB8AC3E}">
        <p14:creationId xmlns:p14="http://schemas.microsoft.com/office/powerpoint/2010/main" val="1659637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0">
            <a:extLst>
              <a:ext uri="{FF2B5EF4-FFF2-40B4-BE49-F238E27FC236}">
                <a16:creationId xmlns:a16="http://schemas.microsoft.com/office/drawing/2014/main" id="{29789EA2-4A70-F2DE-8D58-61BEF7005D2A}"/>
              </a:ext>
            </a:extLst>
          </p:cNvPr>
          <p:cNvSpPr/>
          <p:nvPr/>
        </p:nvSpPr>
        <p:spPr>
          <a:xfrm>
            <a:off x="572393" y="451148"/>
            <a:ext cx="8175625" cy="511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00"/>
              </a:lnSpc>
            </a:pPr>
            <a:r>
              <a:rPr lang="en-US" sz="3208" b="1" dirty="0"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Silver Layer: Cleaned and Conformed Data</a:t>
            </a:r>
            <a:endParaRPr lang="en-US" sz="3208" dirty="0"/>
          </a:p>
        </p:txBody>
      </p:sp>
      <p:pic>
        <p:nvPicPr>
          <p:cNvPr id="54" name="Image 0" descr="preencoded.png">
            <a:extLst>
              <a:ext uri="{FF2B5EF4-FFF2-40B4-BE49-F238E27FC236}">
                <a16:creationId xmlns:a16="http://schemas.microsoft.com/office/drawing/2014/main" id="{08A9C426-7806-F588-C85B-F9860F45C07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711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2393" y="1289249"/>
            <a:ext cx="3682405" cy="654149"/>
          </a:xfrm>
          <a:prstGeom prst="rect">
            <a:avLst/>
          </a:prstGeom>
        </p:spPr>
      </p:pic>
      <p:sp>
        <p:nvSpPr>
          <p:cNvPr id="55" name="Text 1">
            <a:extLst>
              <a:ext uri="{FF2B5EF4-FFF2-40B4-BE49-F238E27FC236}">
                <a16:creationId xmlns:a16="http://schemas.microsoft.com/office/drawing/2014/main" id="{8C9552E5-620E-F05E-111C-FE045A0EAA9D}"/>
              </a:ext>
            </a:extLst>
          </p:cNvPr>
          <p:cNvSpPr/>
          <p:nvPr/>
        </p:nvSpPr>
        <p:spPr>
          <a:xfrm>
            <a:off x="735906" y="2106910"/>
            <a:ext cx="2044403" cy="255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583" b="1" dirty="0"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Data Cleaning</a:t>
            </a:r>
            <a:endParaRPr lang="en-US" sz="1583" dirty="0"/>
          </a:p>
        </p:txBody>
      </p:sp>
      <p:sp>
        <p:nvSpPr>
          <p:cNvPr id="56" name="Text 2">
            <a:extLst>
              <a:ext uri="{FF2B5EF4-FFF2-40B4-BE49-F238E27FC236}">
                <a16:creationId xmlns:a16="http://schemas.microsoft.com/office/drawing/2014/main" id="{EF5789EC-1E2D-363F-3FD3-B7E4A7992633}"/>
              </a:ext>
            </a:extLst>
          </p:cNvPr>
          <p:cNvSpPr/>
          <p:nvPr/>
        </p:nvSpPr>
        <p:spPr>
          <a:xfrm>
            <a:off x="735906" y="2460625"/>
            <a:ext cx="3355380" cy="523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sz="1250" dirty="0">
                <a:latin typeface="Fira Sans" pitchFamily="34" charset="0"/>
                <a:ea typeface="Fira Sans" pitchFamily="34" charset="-122"/>
                <a:cs typeface="Fira Sans" pitchFamily="34" charset="-120"/>
              </a:rPr>
              <a:t>Handles null values, trims whitespace, enforces correct data types, removes duplicates, and validates numeric ranges.</a:t>
            </a:r>
            <a:endParaRPr lang="en-US" sz="1250" dirty="0"/>
          </a:p>
        </p:txBody>
      </p:sp>
      <p:pic>
        <p:nvPicPr>
          <p:cNvPr id="57" name="Image 1" descr="preencoded.png">
            <a:extLst>
              <a:ext uri="{FF2B5EF4-FFF2-40B4-BE49-F238E27FC236}">
                <a16:creationId xmlns:a16="http://schemas.microsoft.com/office/drawing/2014/main" id="{53B6815B-D487-BD63-0549-EA0F1292D11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385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54798" y="1289249"/>
            <a:ext cx="3682405" cy="654149"/>
          </a:xfrm>
          <a:prstGeom prst="rect">
            <a:avLst/>
          </a:prstGeom>
        </p:spPr>
      </p:pic>
      <p:sp>
        <p:nvSpPr>
          <p:cNvPr id="58" name="Text 3">
            <a:extLst>
              <a:ext uri="{FF2B5EF4-FFF2-40B4-BE49-F238E27FC236}">
                <a16:creationId xmlns:a16="http://schemas.microsoft.com/office/drawing/2014/main" id="{2DBEF665-C623-6E3A-A542-54EC3B8993C7}"/>
              </a:ext>
            </a:extLst>
          </p:cNvPr>
          <p:cNvSpPr/>
          <p:nvPr/>
        </p:nvSpPr>
        <p:spPr>
          <a:xfrm>
            <a:off x="4418310" y="2106910"/>
            <a:ext cx="2044403" cy="255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583" b="1" dirty="0"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Standardization</a:t>
            </a:r>
            <a:endParaRPr lang="en-US" sz="1583" dirty="0"/>
          </a:p>
        </p:txBody>
      </p:sp>
      <p:sp>
        <p:nvSpPr>
          <p:cNvPr id="59" name="Text 4">
            <a:extLst>
              <a:ext uri="{FF2B5EF4-FFF2-40B4-BE49-F238E27FC236}">
                <a16:creationId xmlns:a16="http://schemas.microsoft.com/office/drawing/2014/main" id="{FED35D14-EAF3-8835-98D5-A7797D444221}"/>
              </a:ext>
            </a:extLst>
          </p:cNvPr>
          <p:cNvSpPr/>
          <p:nvPr/>
        </p:nvSpPr>
        <p:spPr>
          <a:xfrm>
            <a:off x="4418310" y="2460625"/>
            <a:ext cx="3355380" cy="784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sz="1250" dirty="0">
                <a:latin typeface="Fira Sans" pitchFamily="34" charset="0"/>
                <a:ea typeface="Fira Sans" pitchFamily="34" charset="-122"/>
                <a:cs typeface="Fira Sans" pitchFamily="34" charset="-120"/>
              </a:rPr>
              <a:t>Aligns rainfall, pesticide, yield, and temperature data into unified formats with consistent column naming and canonical country keys.</a:t>
            </a:r>
            <a:endParaRPr lang="en-US" sz="1250" dirty="0"/>
          </a:p>
        </p:txBody>
      </p:sp>
      <p:pic>
        <p:nvPicPr>
          <p:cNvPr id="60" name="Image 2" descr="preencoded.png">
            <a:extLst>
              <a:ext uri="{FF2B5EF4-FFF2-40B4-BE49-F238E27FC236}">
                <a16:creationId xmlns:a16="http://schemas.microsoft.com/office/drawing/2014/main" id="{D65E7B09-812F-61B4-A871-465E40ACC950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3615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37203" y="1289249"/>
            <a:ext cx="3682405" cy="654149"/>
          </a:xfrm>
          <a:prstGeom prst="rect">
            <a:avLst/>
          </a:prstGeom>
        </p:spPr>
      </p:pic>
      <p:sp>
        <p:nvSpPr>
          <p:cNvPr id="61" name="Text 5">
            <a:extLst>
              <a:ext uri="{FF2B5EF4-FFF2-40B4-BE49-F238E27FC236}">
                <a16:creationId xmlns:a16="http://schemas.microsoft.com/office/drawing/2014/main" id="{80501382-C990-29CA-2879-ABE00FB72706}"/>
              </a:ext>
            </a:extLst>
          </p:cNvPr>
          <p:cNvSpPr/>
          <p:nvPr/>
        </p:nvSpPr>
        <p:spPr>
          <a:xfrm>
            <a:off x="8100715" y="2106910"/>
            <a:ext cx="2044403" cy="255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583" b="1" dirty="0"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Validation</a:t>
            </a:r>
            <a:endParaRPr lang="en-US" sz="1583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8E657AF7-6ACC-6E5E-9D47-6F8B0D099F5F}"/>
              </a:ext>
            </a:extLst>
          </p:cNvPr>
          <p:cNvSpPr/>
          <p:nvPr/>
        </p:nvSpPr>
        <p:spPr>
          <a:xfrm>
            <a:off x="8100715" y="2460625"/>
            <a:ext cx="3355380" cy="523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sz="1250" dirty="0">
                <a:latin typeface="Fira Sans" pitchFamily="34" charset="0"/>
                <a:ea typeface="Fira Sans" pitchFamily="34" charset="-122"/>
                <a:cs typeface="Fira Sans" pitchFamily="34" charset="-120"/>
              </a:rPr>
              <a:t>Applies year-based filtering (1990–2013) and ensures data integrity for downstream analytics</a:t>
            </a:r>
            <a:endParaRPr lang="en-US" sz="1250" dirty="0"/>
          </a:p>
        </p:txBody>
      </p:sp>
      <p:sp>
        <p:nvSpPr>
          <p:cNvPr id="63" name="Shape 7">
            <a:extLst>
              <a:ext uri="{FF2B5EF4-FFF2-40B4-BE49-F238E27FC236}">
                <a16:creationId xmlns:a16="http://schemas.microsoft.com/office/drawing/2014/main" id="{7301DCB1-DA29-3B8F-E2BA-04224ABB1051}"/>
              </a:ext>
            </a:extLst>
          </p:cNvPr>
          <p:cNvSpPr/>
          <p:nvPr/>
        </p:nvSpPr>
        <p:spPr>
          <a:xfrm>
            <a:off x="572394" y="3674480"/>
            <a:ext cx="11047214" cy="26789"/>
          </a:xfrm>
          <a:prstGeom prst="rect">
            <a:avLst/>
          </a:prstGeom>
          <a:solidFill>
            <a:srgbClr val="DAD1E6">
              <a:alpha val="50000"/>
            </a:srgbClr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64" name="Text 8">
            <a:extLst>
              <a:ext uri="{FF2B5EF4-FFF2-40B4-BE49-F238E27FC236}">
                <a16:creationId xmlns:a16="http://schemas.microsoft.com/office/drawing/2014/main" id="{769D53EB-5895-5310-7A22-EF38F8426E57}"/>
              </a:ext>
            </a:extLst>
          </p:cNvPr>
          <p:cNvSpPr/>
          <p:nvPr/>
        </p:nvSpPr>
        <p:spPr>
          <a:xfrm>
            <a:off x="572394" y="4048720"/>
            <a:ext cx="3311128" cy="306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917" b="1" dirty="0"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Enterprise-Wide Consistency</a:t>
            </a:r>
            <a:endParaRPr lang="en-US" sz="1917" dirty="0"/>
          </a:p>
        </p:txBody>
      </p:sp>
      <p:sp>
        <p:nvSpPr>
          <p:cNvPr id="65" name="Text 9">
            <a:extLst>
              <a:ext uri="{FF2B5EF4-FFF2-40B4-BE49-F238E27FC236}">
                <a16:creationId xmlns:a16="http://schemas.microsoft.com/office/drawing/2014/main" id="{D27CBD9A-62CB-06ED-4F50-739A5A5A4531}"/>
              </a:ext>
            </a:extLst>
          </p:cNvPr>
          <p:cNvSpPr/>
          <p:nvPr/>
        </p:nvSpPr>
        <p:spPr>
          <a:xfrm>
            <a:off x="572394" y="4518918"/>
            <a:ext cx="5324078" cy="784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sz="1250" dirty="0">
                <a:latin typeface="Fira Sans" pitchFamily="34" charset="0"/>
                <a:ea typeface="Fira Sans" pitchFamily="34" charset="-122"/>
                <a:cs typeface="Fira Sans" pitchFamily="34" charset="-120"/>
              </a:rPr>
              <a:t>Creates a single source of truth by conforming data from multiple sources into a unified, reliable dataset that maintains granular detail while ensuring consistency across the organization.</a:t>
            </a:r>
            <a:endParaRPr lang="en-US" sz="1250" dirty="0"/>
          </a:p>
        </p:txBody>
      </p:sp>
      <p:sp>
        <p:nvSpPr>
          <p:cNvPr id="66" name="Text 10">
            <a:extLst>
              <a:ext uri="{FF2B5EF4-FFF2-40B4-BE49-F238E27FC236}">
                <a16:creationId xmlns:a16="http://schemas.microsoft.com/office/drawing/2014/main" id="{C938DD0F-1603-A499-D993-BCEB3829C747}"/>
              </a:ext>
            </a:extLst>
          </p:cNvPr>
          <p:cNvSpPr/>
          <p:nvPr/>
        </p:nvSpPr>
        <p:spPr>
          <a:xfrm>
            <a:off x="572394" y="5450682"/>
            <a:ext cx="5324078" cy="261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042"/>
              </a:lnSpc>
              <a:buSzPct val="100000"/>
              <a:buChar char="•"/>
            </a:pPr>
            <a:r>
              <a:rPr lang="en-US" sz="1250" dirty="0">
                <a:latin typeface="Fira Sans" pitchFamily="34" charset="0"/>
                <a:ea typeface="Fira Sans" pitchFamily="34" charset="-122"/>
                <a:cs typeface="Fira Sans" pitchFamily="34" charset="-120"/>
              </a:rPr>
              <a:t>Unified data schemas and naming conventions</a:t>
            </a:r>
            <a:endParaRPr lang="en-US" sz="1250" dirty="0"/>
          </a:p>
        </p:txBody>
      </p:sp>
      <p:sp>
        <p:nvSpPr>
          <p:cNvPr id="67" name="Text 11">
            <a:extLst>
              <a:ext uri="{FF2B5EF4-FFF2-40B4-BE49-F238E27FC236}">
                <a16:creationId xmlns:a16="http://schemas.microsoft.com/office/drawing/2014/main" id="{A9CA5C16-B6F7-B4DD-81D1-5CB2ABF2B589}"/>
              </a:ext>
            </a:extLst>
          </p:cNvPr>
          <p:cNvSpPr/>
          <p:nvPr/>
        </p:nvSpPr>
        <p:spPr>
          <a:xfrm>
            <a:off x="572394" y="5769372"/>
            <a:ext cx="5324078" cy="261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042"/>
              </a:lnSpc>
              <a:buSzPct val="100000"/>
              <a:buChar char="•"/>
            </a:pPr>
            <a:r>
              <a:rPr lang="en-US" sz="1250" dirty="0">
                <a:latin typeface="Fira Sans" pitchFamily="34" charset="0"/>
                <a:ea typeface="Fira Sans" pitchFamily="34" charset="-122"/>
                <a:cs typeface="Fira Sans" pitchFamily="34" charset="-120"/>
              </a:rPr>
              <a:t>Consistent measurement units and time zones</a:t>
            </a:r>
            <a:endParaRPr lang="en-US" sz="1250" dirty="0"/>
          </a:p>
        </p:txBody>
      </p:sp>
      <p:sp>
        <p:nvSpPr>
          <p:cNvPr id="68" name="Text 12">
            <a:extLst>
              <a:ext uri="{FF2B5EF4-FFF2-40B4-BE49-F238E27FC236}">
                <a16:creationId xmlns:a16="http://schemas.microsoft.com/office/drawing/2014/main" id="{F7AA8C4D-870C-7130-D658-A4C0C0FA18EB}"/>
              </a:ext>
            </a:extLst>
          </p:cNvPr>
          <p:cNvSpPr/>
          <p:nvPr/>
        </p:nvSpPr>
        <p:spPr>
          <a:xfrm>
            <a:off x="572394" y="6088063"/>
            <a:ext cx="5324078" cy="261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042"/>
              </a:lnSpc>
              <a:buSzPct val="100000"/>
              <a:buChar char="•"/>
            </a:pPr>
            <a:r>
              <a:rPr lang="en-US" sz="1250" dirty="0">
                <a:latin typeface="Fira Sans" pitchFamily="34" charset="0"/>
                <a:ea typeface="Fira Sans" pitchFamily="34" charset="-122"/>
                <a:cs typeface="Fira Sans" pitchFamily="34" charset="-120"/>
              </a:rPr>
              <a:t>Cross-validated data relationships</a:t>
            </a:r>
            <a:endParaRPr lang="en-US" sz="1250" dirty="0"/>
          </a:p>
        </p:txBody>
      </p:sp>
      <p:sp>
        <p:nvSpPr>
          <p:cNvPr id="69" name="Text 13">
            <a:extLst>
              <a:ext uri="{FF2B5EF4-FFF2-40B4-BE49-F238E27FC236}">
                <a16:creationId xmlns:a16="http://schemas.microsoft.com/office/drawing/2014/main" id="{32C8A41D-44AB-7213-06FF-2F49E691FAC9}"/>
              </a:ext>
            </a:extLst>
          </p:cNvPr>
          <p:cNvSpPr/>
          <p:nvPr/>
        </p:nvSpPr>
        <p:spPr>
          <a:xfrm>
            <a:off x="6301879" y="4048720"/>
            <a:ext cx="3433763" cy="306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917" b="1" dirty="0"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Self-Service Analytics Ready</a:t>
            </a:r>
            <a:endParaRPr lang="en-US" sz="1917" dirty="0"/>
          </a:p>
        </p:txBody>
      </p:sp>
      <p:sp>
        <p:nvSpPr>
          <p:cNvPr id="70" name="Text 14">
            <a:extLst>
              <a:ext uri="{FF2B5EF4-FFF2-40B4-BE49-F238E27FC236}">
                <a16:creationId xmlns:a16="http://schemas.microsoft.com/office/drawing/2014/main" id="{16846849-D322-D63B-1A6F-AB3FBE159772}"/>
              </a:ext>
            </a:extLst>
          </p:cNvPr>
          <p:cNvSpPr/>
          <p:nvPr/>
        </p:nvSpPr>
        <p:spPr>
          <a:xfrm>
            <a:off x="6301879" y="4518918"/>
            <a:ext cx="5324078" cy="784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sz="1250" dirty="0">
                <a:latin typeface="Fira Sans" pitchFamily="34" charset="0"/>
                <a:ea typeface="Fira Sans" pitchFamily="34" charset="-122"/>
                <a:cs typeface="Fira Sans" pitchFamily="34" charset="-120"/>
              </a:rPr>
              <a:t>Provides "just enough" transformation to enable data scientists and analysts to perform exploratory analysis and build accurate models without requiring extensive preprocessing.</a:t>
            </a:r>
            <a:endParaRPr lang="en-US" sz="1250" dirty="0"/>
          </a:p>
        </p:txBody>
      </p:sp>
      <p:sp>
        <p:nvSpPr>
          <p:cNvPr id="71" name="Text 15">
            <a:extLst>
              <a:ext uri="{FF2B5EF4-FFF2-40B4-BE49-F238E27FC236}">
                <a16:creationId xmlns:a16="http://schemas.microsoft.com/office/drawing/2014/main" id="{9FE0FFF5-5EF9-DB14-0A6F-974C8C931985}"/>
              </a:ext>
            </a:extLst>
          </p:cNvPr>
          <p:cNvSpPr/>
          <p:nvPr/>
        </p:nvSpPr>
        <p:spPr>
          <a:xfrm>
            <a:off x="6301879" y="5450682"/>
            <a:ext cx="5324078" cy="261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042"/>
              </a:lnSpc>
              <a:buSzPct val="100000"/>
              <a:buChar char="•"/>
            </a:pPr>
            <a:r>
              <a:rPr lang="en-US" sz="1250" dirty="0">
                <a:latin typeface="Fira Sans" pitchFamily="34" charset="0"/>
                <a:ea typeface="Fira Sans" pitchFamily="34" charset="-122"/>
                <a:cs typeface="Fira Sans" pitchFamily="34" charset="-120"/>
              </a:rPr>
              <a:t>Optimized for model training and testing</a:t>
            </a:r>
            <a:endParaRPr lang="en-US" sz="1250" dirty="0"/>
          </a:p>
        </p:txBody>
      </p:sp>
      <p:sp>
        <p:nvSpPr>
          <p:cNvPr id="72" name="Text 16">
            <a:extLst>
              <a:ext uri="{FF2B5EF4-FFF2-40B4-BE49-F238E27FC236}">
                <a16:creationId xmlns:a16="http://schemas.microsoft.com/office/drawing/2014/main" id="{4C8A6747-F489-F382-E83C-2AEF0FB71B00}"/>
              </a:ext>
            </a:extLst>
          </p:cNvPr>
          <p:cNvSpPr/>
          <p:nvPr/>
        </p:nvSpPr>
        <p:spPr>
          <a:xfrm>
            <a:off x="6301879" y="5769372"/>
            <a:ext cx="5324078" cy="261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042"/>
              </a:lnSpc>
              <a:buSzPct val="100000"/>
              <a:buChar char="•"/>
            </a:pPr>
            <a:r>
              <a:rPr lang="en-US" sz="1250" dirty="0">
                <a:latin typeface="Fira Sans" pitchFamily="34" charset="0"/>
                <a:ea typeface="Fira Sans" pitchFamily="34" charset="-122"/>
                <a:cs typeface="Fira Sans" pitchFamily="34" charset="-120"/>
              </a:rPr>
              <a:t>Accessible for data science teams</a:t>
            </a:r>
            <a:endParaRPr lang="en-US" sz="1250" dirty="0"/>
          </a:p>
        </p:txBody>
      </p:sp>
      <p:sp>
        <p:nvSpPr>
          <p:cNvPr id="73" name="Text 17">
            <a:extLst>
              <a:ext uri="{FF2B5EF4-FFF2-40B4-BE49-F238E27FC236}">
                <a16:creationId xmlns:a16="http://schemas.microsoft.com/office/drawing/2014/main" id="{61F33252-A3D8-046F-E5C8-FB38451E7281}"/>
              </a:ext>
            </a:extLst>
          </p:cNvPr>
          <p:cNvSpPr/>
          <p:nvPr/>
        </p:nvSpPr>
        <p:spPr>
          <a:xfrm>
            <a:off x="6301879" y="6088063"/>
            <a:ext cx="5324078" cy="261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042"/>
              </a:lnSpc>
              <a:buSzPct val="100000"/>
              <a:buChar char="•"/>
            </a:pPr>
            <a:r>
              <a:rPr lang="en-US" sz="1250" dirty="0">
                <a:latin typeface="Fira Sans" pitchFamily="34" charset="0"/>
                <a:ea typeface="Fira Sans" pitchFamily="34" charset="-122"/>
                <a:cs typeface="Fira Sans" pitchFamily="34" charset="-120"/>
              </a:rPr>
              <a:t>Supports ad-hoc querying and exploration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111006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21CF1-452F-B5FA-DE70-C543F5F87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B5B9C5F-E507-0B27-00A3-EFD0FB76C78B}"/>
              </a:ext>
            </a:extLst>
          </p:cNvPr>
          <p:cNvSpPr/>
          <p:nvPr/>
        </p:nvSpPr>
        <p:spPr>
          <a:xfrm>
            <a:off x="661492" y="893763"/>
            <a:ext cx="10394553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b="1" dirty="0"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Gold Layer: Curated and Analytics-Ready Data</a:t>
            </a:r>
            <a:endParaRPr lang="en-US" sz="3708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C37497C-947C-1DC1-3AD5-0018ECE68FD4}"/>
              </a:ext>
            </a:extLst>
          </p:cNvPr>
          <p:cNvSpPr/>
          <p:nvPr/>
        </p:nvSpPr>
        <p:spPr>
          <a:xfrm>
            <a:off x="661492" y="2051447"/>
            <a:ext cx="247957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Regional Aggregations</a:t>
            </a:r>
            <a:endParaRPr lang="en-US" sz="1833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CD3D384-B8C4-5198-2BB4-0BF75B42894F}"/>
              </a:ext>
            </a:extLst>
          </p:cNvPr>
          <p:cNvSpPr/>
          <p:nvPr/>
        </p:nvSpPr>
        <p:spPr>
          <a:xfrm>
            <a:off x="661492" y="2460129"/>
            <a:ext cx="3465513" cy="90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latin typeface="Fira Sans" pitchFamily="34" charset="0"/>
                <a:ea typeface="Fira Sans" pitchFamily="34" charset="-122"/>
                <a:cs typeface="Fira Sans" pitchFamily="34" charset="-120"/>
              </a:rPr>
              <a:t>Aggregates yield and climate metrics by country and year for strategic planning and resource allocation.</a:t>
            </a:r>
            <a:endParaRPr lang="en-US" sz="1458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406394C-8906-4FFE-BA82-A3D2D5F862DB}"/>
              </a:ext>
            </a:extLst>
          </p:cNvPr>
          <p:cNvSpPr/>
          <p:nvPr/>
        </p:nvSpPr>
        <p:spPr>
          <a:xfrm>
            <a:off x="4363244" y="2051447"/>
            <a:ext cx="295185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Pesticide Impact Analysis</a:t>
            </a:r>
            <a:endParaRPr lang="en-US" sz="1833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86CBAA1-FC79-AD69-0545-5E0964594A57}"/>
              </a:ext>
            </a:extLst>
          </p:cNvPr>
          <p:cNvSpPr/>
          <p:nvPr/>
        </p:nvSpPr>
        <p:spPr>
          <a:xfrm>
            <a:off x="4363244" y="2460129"/>
            <a:ext cx="3465513" cy="90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latin typeface="Fira Sans" pitchFamily="34" charset="0"/>
                <a:ea typeface="Fira Sans" pitchFamily="34" charset="-122"/>
                <a:cs typeface="Fira Sans" pitchFamily="34" charset="-120"/>
              </a:rPr>
              <a:t>Combines pesticide usage with crop yield data to uncover correlations and optimize application strategies.</a:t>
            </a:r>
            <a:endParaRPr lang="en-US" sz="1458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4C6E7D5-56B3-5E5A-1A4B-B23B9D904257}"/>
              </a:ext>
            </a:extLst>
          </p:cNvPr>
          <p:cNvSpPr/>
          <p:nvPr/>
        </p:nvSpPr>
        <p:spPr>
          <a:xfrm>
            <a:off x="8064996" y="2051447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Climate Correlations</a:t>
            </a:r>
            <a:endParaRPr lang="en-US" sz="1833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52572B6-F2FD-AEB6-2570-54C819308EC2}"/>
              </a:ext>
            </a:extLst>
          </p:cNvPr>
          <p:cNvSpPr/>
          <p:nvPr/>
        </p:nvSpPr>
        <p:spPr>
          <a:xfrm>
            <a:off x="8064996" y="2460129"/>
            <a:ext cx="3465513" cy="90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latin typeface="Fira Sans" pitchFamily="34" charset="0"/>
                <a:ea typeface="Fira Sans" pitchFamily="34" charset="-122"/>
                <a:cs typeface="Fira Sans" pitchFamily="34" charset="-120"/>
              </a:rPr>
              <a:t>Integrates rainfall and temperature trends with yield performance for predictive insights.</a:t>
            </a:r>
            <a:endParaRPr lang="en-US" sz="1458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C69FB55-F4BB-231F-500D-A43534BA6B4C}"/>
              </a:ext>
            </a:extLst>
          </p:cNvPr>
          <p:cNvSpPr/>
          <p:nvPr/>
        </p:nvSpPr>
        <p:spPr>
          <a:xfrm>
            <a:off x="661492" y="3674496"/>
            <a:ext cx="10869018" cy="29964"/>
          </a:xfrm>
          <a:prstGeom prst="rect">
            <a:avLst/>
          </a:prstGeom>
          <a:solidFill>
            <a:srgbClr val="DAD1E6">
              <a:alpha val="50000"/>
            </a:srgbClr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0EB1419-8E6E-26C6-6060-33D9612D10F7}"/>
              </a:ext>
            </a:extLst>
          </p:cNvPr>
          <p:cNvSpPr/>
          <p:nvPr/>
        </p:nvSpPr>
        <p:spPr>
          <a:xfrm>
            <a:off x="661492" y="3917057"/>
            <a:ext cx="3496965" cy="2047181"/>
          </a:xfrm>
          <a:prstGeom prst="roundRect">
            <a:avLst>
              <a:gd name="adj" fmla="val 5956"/>
            </a:avLst>
          </a:prstGeom>
          <a:solidFill>
            <a:schemeClr val="tx2">
              <a:lumMod val="25000"/>
              <a:lumOff val="75000"/>
            </a:schemeClr>
          </a:solidFill>
          <a:ln w="30480">
            <a:solidFill>
              <a:srgbClr val="5C4E69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C5A863C-1C26-8192-2BAC-25C2DA7A754E}"/>
              </a:ext>
            </a:extLst>
          </p:cNvPr>
          <p:cNvSpPr/>
          <p:nvPr/>
        </p:nvSpPr>
        <p:spPr>
          <a:xfrm>
            <a:off x="952104" y="4131469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Executive Dashboards</a:t>
            </a:r>
            <a:endParaRPr lang="en-US" sz="1833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21D00671-A791-CF7E-4F28-31A1A6960E2C}"/>
              </a:ext>
            </a:extLst>
          </p:cNvPr>
          <p:cNvSpPr/>
          <p:nvPr/>
        </p:nvSpPr>
        <p:spPr>
          <a:xfrm>
            <a:off x="952103" y="4540151"/>
            <a:ext cx="299194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latin typeface="Fira Sans" pitchFamily="34" charset="0"/>
                <a:ea typeface="Fira Sans" pitchFamily="34" charset="-122"/>
                <a:cs typeface="Fira Sans" pitchFamily="34" charset="-120"/>
              </a:rPr>
              <a:t>Provides clean, structured datasets optimized for machine learning and forecasting future crop performance</a:t>
            </a:r>
            <a:endParaRPr lang="en-US" sz="1458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A6EC86EC-0C49-E141-C014-1984DABB71F1}"/>
              </a:ext>
            </a:extLst>
          </p:cNvPr>
          <p:cNvSpPr/>
          <p:nvPr/>
        </p:nvSpPr>
        <p:spPr>
          <a:xfrm>
            <a:off x="4347468" y="3917057"/>
            <a:ext cx="3496965" cy="2047181"/>
          </a:xfrm>
          <a:prstGeom prst="roundRect">
            <a:avLst>
              <a:gd name="adj" fmla="val 5956"/>
            </a:avLst>
          </a:prstGeom>
          <a:solidFill>
            <a:schemeClr val="tx2">
              <a:lumMod val="25000"/>
              <a:lumOff val="75000"/>
            </a:schemeClr>
          </a:solidFill>
          <a:ln w="30480">
            <a:solidFill>
              <a:srgbClr val="5C4E69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94183EA7-19DC-77C7-B3DD-87C941AE2A60}"/>
              </a:ext>
            </a:extLst>
          </p:cNvPr>
          <p:cNvSpPr/>
          <p:nvPr/>
        </p:nvSpPr>
        <p:spPr>
          <a:xfrm>
            <a:off x="4638080" y="4131469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Predictive Modeling</a:t>
            </a:r>
            <a:endParaRPr lang="en-US" sz="1833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39E9B3D7-DAB8-0D8B-21D3-4691AD82EDC2}"/>
              </a:ext>
            </a:extLst>
          </p:cNvPr>
          <p:cNvSpPr/>
          <p:nvPr/>
        </p:nvSpPr>
        <p:spPr>
          <a:xfrm>
            <a:off x="4638080" y="4540151"/>
            <a:ext cx="299194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latin typeface="Fira Sans" pitchFamily="34" charset="0"/>
                <a:ea typeface="Fira Sans" pitchFamily="34" charset="-122"/>
                <a:cs typeface="Fira Sans" pitchFamily="34" charset="-120"/>
              </a:rPr>
              <a:t>Structured datasets optimized for forecasting crop yields, identifying risk factors, and planning future seasons</a:t>
            </a:r>
            <a:endParaRPr lang="en-US" sz="1458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EF076801-B8AA-FF52-9375-1C72322C6A59}"/>
              </a:ext>
            </a:extLst>
          </p:cNvPr>
          <p:cNvSpPr/>
          <p:nvPr/>
        </p:nvSpPr>
        <p:spPr>
          <a:xfrm>
            <a:off x="8033444" y="3917057"/>
            <a:ext cx="3496965" cy="2047181"/>
          </a:xfrm>
          <a:prstGeom prst="roundRect">
            <a:avLst>
              <a:gd name="adj" fmla="val 5956"/>
            </a:avLst>
          </a:prstGeom>
          <a:solidFill>
            <a:schemeClr val="tx2">
              <a:lumMod val="25000"/>
              <a:lumOff val="75000"/>
            </a:schemeClr>
          </a:solidFill>
          <a:ln w="30480">
            <a:solidFill>
              <a:srgbClr val="5C4E69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3BF41484-0EC0-FD30-B785-E2DC91ED3E45}"/>
              </a:ext>
            </a:extLst>
          </p:cNvPr>
          <p:cNvSpPr/>
          <p:nvPr/>
        </p:nvSpPr>
        <p:spPr>
          <a:xfrm>
            <a:off x="8324057" y="4131469"/>
            <a:ext cx="271571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Actionable Intelligence</a:t>
            </a:r>
            <a:endParaRPr lang="en-US" sz="1833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8A7FF7E0-7995-FBA3-B10A-80683B97568B}"/>
              </a:ext>
            </a:extLst>
          </p:cNvPr>
          <p:cNvSpPr/>
          <p:nvPr/>
        </p:nvSpPr>
        <p:spPr>
          <a:xfrm>
            <a:off x="8324057" y="4540151"/>
            <a:ext cx="299194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latin typeface="Fira Sans" pitchFamily="34" charset="0"/>
                <a:ea typeface="Fira Sans" pitchFamily="34" charset="-122"/>
                <a:cs typeface="Fira Sans" pitchFamily="34" charset="-120"/>
              </a:rPr>
              <a:t>Delivers analytics-ready data for dashboards, decision-making, and operational improvements.</a:t>
            </a:r>
            <a:endParaRPr lang="en-US" sz="1458" dirty="0"/>
          </a:p>
        </p:txBody>
      </p:sp>
    </p:spTree>
    <p:extLst>
      <p:ext uri="{BB962C8B-B14F-4D97-AF65-F5344CB8AC3E}">
        <p14:creationId xmlns:p14="http://schemas.microsoft.com/office/powerpoint/2010/main" val="1612019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31C0C-3C73-391A-0435-8A4DA5AF3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2CD82A91-0DAC-DE49-5712-FBE4B5E245C3}"/>
              </a:ext>
            </a:extLst>
          </p:cNvPr>
          <p:cNvSpPr txBox="1"/>
          <p:nvPr/>
        </p:nvSpPr>
        <p:spPr>
          <a:xfrm>
            <a:off x="590106" y="610248"/>
            <a:ext cx="102551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Data Loading &amp; Power BI  Integration</a:t>
            </a:r>
            <a:endParaRPr lang="en-IN" sz="40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F1B37E-96F6-646F-5E84-F7052DB3767F}"/>
              </a:ext>
            </a:extLst>
          </p:cNvPr>
          <p:cNvSpPr txBox="1"/>
          <p:nvPr/>
        </p:nvSpPr>
        <p:spPr>
          <a:xfrm>
            <a:off x="707049" y="1752080"/>
            <a:ext cx="10777901" cy="1914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en-IN" sz="2000" b="1" dirty="0"/>
              <a:t>PostgreSQL Integration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0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Raw crop yield data DF is written in the csv format which is ready for loading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CSV files are imported into </a:t>
            </a:r>
            <a:r>
              <a:rPr lang="en-IN" b="1" dirty="0"/>
              <a:t>PostgreSQL</a:t>
            </a:r>
            <a:r>
              <a:rPr lang="en-IN" dirty="0"/>
              <a:t> database  by establishing JDBC connection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Ensures structured, centralized, and reliable data storage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4AD99B-BD9B-5F26-02A8-1F31D83B6365}"/>
              </a:ext>
            </a:extLst>
          </p:cNvPr>
          <p:cNvSpPr txBox="1"/>
          <p:nvPr/>
        </p:nvSpPr>
        <p:spPr>
          <a:xfrm>
            <a:off x="272017" y="4148702"/>
            <a:ext cx="5635255" cy="1914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en-IN" sz="2000" b="1" dirty="0"/>
              <a:t>Power BI Integration</a:t>
            </a:r>
          </a:p>
          <a:p>
            <a:pPr algn="ctr"/>
            <a:endParaRPr lang="en-IN" sz="20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The power BI is then connected to our database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Now all the tables are loaded which are ready for the visualization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A2B4A8-EFC7-717F-2642-D9C490A12C6E}"/>
              </a:ext>
            </a:extLst>
          </p:cNvPr>
          <p:cNvSpPr txBox="1"/>
          <p:nvPr/>
        </p:nvSpPr>
        <p:spPr>
          <a:xfrm>
            <a:off x="6096000" y="4148702"/>
            <a:ext cx="5635255" cy="1914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en-US" sz="2000" b="1" dirty="0"/>
              <a:t>Outcome</a:t>
            </a:r>
          </a:p>
          <a:p>
            <a:pPr algn="ctr"/>
            <a:endParaRPr lang="en-US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Efficient data processing and faster analysis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Scalable setup for large agricultural datasets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Accurate insights for crop yield trends and patterns</a:t>
            </a:r>
          </a:p>
        </p:txBody>
      </p:sp>
    </p:spTree>
    <p:extLst>
      <p:ext uri="{BB962C8B-B14F-4D97-AF65-F5344CB8AC3E}">
        <p14:creationId xmlns:p14="http://schemas.microsoft.com/office/powerpoint/2010/main" val="2903731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2E8884-8640-8B7C-DAA3-362CDE2EF933}"/>
              </a:ext>
            </a:extLst>
          </p:cNvPr>
          <p:cNvSpPr txBox="1"/>
          <p:nvPr/>
        </p:nvSpPr>
        <p:spPr>
          <a:xfrm>
            <a:off x="511630" y="260200"/>
            <a:ext cx="10515600" cy="15058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Cumulative Analysis </a:t>
            </a:r>
          </a:p>
        </p:txBody>
      </p:sp>
      <p:pic>
        <p:nvPicPr>
          <p:cNvPr id="7" name="Picture 6" descr="A close-up of a graph&#10;&#10;AI-generated content may be incorrect.">
            <a:extLst>
              <a:ext uri="{FF2B5EF4-FFF2-40B4-BE49-F238E27FC236}">
                <a16:creationId xmlns:a16="http://schemas.microsoft.com/office/drawing/2014/main" id="{F554C1C7-9822-018D-3B33-DD7F0A74C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30" y="1377109"/>
            <a:ext cx="11059884" cy="511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745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6" name="Picture 14">
            <a:extLst>
              <a:ext uri="{FF2B5EF4-FFF2-40B4-BE49-F238E27FC236}">
                <a16:creationId xmlns:a16="http://schemas.microsoft.com/office/drawing/2014/main" id="{C4867C13-AC67-9C9C-E6AD-241231C48D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1157" y="3516086"/>
            <a:ext cx="6683827" cy="3341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>
            <a:extLst>
              <a:ext uri="{FF2B5EF4-FFF2-40B4-BE49-F238E27FC236}">
                <a16:creationId xmlns:a16="http://schemas.microsoft.com/office/drawing/2014/main" id="{D2ABE694-3469-8EED-F36A-157E8C573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14" y="0"/>
            <a:ext cx="5497286" cy="3516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0" name="Picture 18">
            <a:extLst>
              <a:ext uri="{FF2B5EF4-FFF2-40B4-BE49-F238E27FC236}">
                <a16:creationId xmlns:a16="http://schemas.microsoft.com/office/drawing/2014/main" id="{A1E694F8-3F84-51D9-9EE1-43D4EBB49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6942" y="0"/>
            <a:ext cx="5815572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EDF0F9-6069-9A8B-ACAB-62E2DEEBA332}"/>
              </a:ext>
            </a:extLst>
          </p:cNvPr>
          <p:cNvSpPr txBox="1"/>
          <p:nvPr/>
        </p:nvSpPr>
        <p:spPr>
          <a:xfrm>
            <a:off x="141515" y="4546742"/>
            <a:ext cx="31296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Global Crop Yield Correlations (Temperature ,Pesticides)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804488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6E752513-514E-F10D-639A-B2DE943E49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1304" y="3976603"/>
            <a:ext cx="5317526" cy="236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7115902D-C380-8F55-0E01-49D25196B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410" y="3923618"/>
            <a:ext cx="5832088" cy="2558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BA433733-9B32-BCE6-CDB1-811322B229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9417" y="0"/>
            <a:ext cx="8473166" cy="3976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4118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4" name="Rectangle 1043">
            <a:extLst>
              <a:ext uri="{FF2B5EF4-FFF2-40B4-BE49-F238E27FC236}">
                <a16:creationId xmlns:a16="http://schemas.microsoft.com/office/drawing/2014/main" id="{E8DC6FCD-811B-436E-9FEE-FC957486C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32" name="Picture 8" descr="A blue and yellow graph&#10;&#10;AI-generated content may be incorrect.">
            <a:extLst>
              <a:ext uri="{FF2B5EF4-FFF2-40B4-BE49-F238E27FC236}">
                <a16:creationId xmlns:a16="http://schemas.microsoft.com/office/drawing/2014/main" id="{97FE73C2-5DF7-2FFC-57EE-6962376F3D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7559"/>
          <a:stretch>
            <a:fillRect/>
          </a:stretch>
        </p:blipFill>
        <p:spPr bwMode="auto">
          <a:xfrm>
            <a:off x="198739" y="3510858"/>
            <a:ext cx="5804105" cy="2789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 graph showing a line&#10;&#10;AI-generated content may be incorrect.">
            <a:extLst>
              <a:ext uri="{FF2B5EF4-FFF2-40B4-BE49-F238E27FC236}">
                <a16:creationId xmlns:a16="http://schemas.microsoft.com/office/drawing/2014/main" id="{D32AED3C-BE93-353F-200E-D54C6D2785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19127"/>
          <a:stretch>
            <a:fillRect/>
          </a:stretch>
        </p:blipFill>
        <p:spPr bwMode="auto">
          <a:xfrm>
            <a:off x="6096000" y="3429000"/>
            <a:ext cx="5797883" cy="2789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>
            <a:extLst>
              <a:ext uri="{FF2B5EF4-FFF2-40B4-BE49-F238E27FC236}">
                <a16:creationId xmlns:a16="http://schemas.microsoft.com/office/drawing/2014/main" id="{0564D36B-11C8-C49B-086F-3F0D764FA7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0" y="197491"/>
            <a:ext cx="5500440" cy="3231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F793B394-EDD2-6F5B-523A-1DAAC30E6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7030" y="468859"/>
            <a:ext cx="6516432" cy="2878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6509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DBF9693-478A-15D4-D29F-F39317E73CDB}"/>
              </a:ext>
            </a:extLst>
          </p:cNvPr>
          <p:cNvSpPr/>
          <p:nvPr/>
        </p:nvSpPr>
        <p:spPr>
          <a:xfrm>
            <a:off x="631924" y="1001415"/>
            <a:ext cx="8060333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66"/>
              </a:lnSpc>
            </a:pPr>
            <a:r>
              <a:rPr lang="en-US" sz="3708" dirty="0"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Power BI Analytics &amp; Impact</a:t>
            </a:r>
            <a:endParaRPr lang="en-US" sz="3708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EC9E94F6-A654-BC94-93B3-15052DD279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925" y="1956395"/>
            <a:ext cx="451346" cy="451346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33BDE40D-305C-DF5B-D134-2A5ED323961C}"/>
              </a:ext>
            </a:extLst>
          </p:cNvPr>
          <p:cNvSpPr/>
          <p:nvPr/>
        </p:nvSpPr>
        <p:spPr>
          <a:xfrm>
            <a:off x="1308895" y="2063552"/>
            <a:ext cx="237559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833" dirty="0"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Yield Trends</a:t>
            </a:r>
            <a:endParaRPr lang="en-US" sz="1833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7E81AE9-B84C-AF47-3123-234D722737D5}"/>
              </a:ext>
            </a:extLst>
          </p:cNvPr>
          <p:cNvSpPr/>
          <p:nvPr/>
        </p:nvSpPr>
        <p:spPr>
          <a:xfrm>
            <a:off x="1308895" y="2468662"/>
            <a:ext cx="4674294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Interactive dashboards reveal seasonal patterns and multi-year trends across different crop types and geographic regions, enabling proactive planning.</a:t>
            </a:r>
            <a:endParaRPr lang="en-US" sz="1417" dirty="0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FF90ACEF-1480-CE0E-03D5-E111039BAD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08812" y="1956395"/>
            <a:ext cx="451346" cy="451346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AB9DAEC2-25B1-5D6E-B2CE-C0C405311FAF}"/>
              </a:ext>
            </a:extLst>
          </p:cNvPr>
          <p:cNvSpPr/>
          <p:nvPr/>
        </p:nvSpPr>
        <p:spPr>
          <a:xfrm>
            <a:off x="6885782" y="2063552"/>
            <a:ext cx="267989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833" dirty="0"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Anomaly Detection</a:t>
            </a:r>
            <a:endParaRPr lang="en-US" sz="1833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95407ECA-8EDC-578A-86CE-22756360C855}"/>
              </a:ext>
            </a:extLst>
          </p:cNvPr>
          <p:cNvSpPr/>
          <p:nvPr/>
        </p:nvSpPr>
        <p:spPr>
          <a:xfrm>
            <a:off x="6885782" y="2468662"/>
            <a:ext cx="4674294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Automated identification of unexpected yield deviations, highlighting potential issues like pest infestations, irrigation problems, or weather impacts.</a:t>
            </a:r>
            <a:endParaRPr lang="en-US" sz="1417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494151D2-F1AC-02E4-4DDB-4B33A51EED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1925" y="3696495"/>
            <a:ext cx="451346" cy="451346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CC8F1A94-44F3-3281-533F-A3A426F3F0B3}"/>
              </a:ext>
            </a:extLst>
          </p:cNvPr>
          <p:cNvSpPr/>
          <p:nvPr/>
        </p:nvSpPr>
        <p:spPr>
          <a:xfrm>
            <a:off x="1308894" y="3803650"/>
            <a:ext cx="2468463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833" dirty="0"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Regional Insights</a:t>
            </a:r>
            <a:endParaRPr lang="en-US" sz="1833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09ACCD24-1735-9584-B8FE-E46C58DB7C9C}"/>
              </a:ext>
            </a:extLst>
          </p:cNvPr>
          <p:cNvSpPr/>
          <p:nvPr/>
        </p:nvSpPr>
        <p:spPr>
          <a:xfrm>
            <a:off x="1308895" y="4208760"/>
            <a:ext cx="4674294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Geospatial analysis comparing performance across farms and regions, identifying best practices and optimization opportunities.</a:t>
            </a:r>
            <a:endParaRPr lang="en-US" sz="1417" dirty="0"/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87AF9247-6D54-D954-9B66-17C51B9A6C8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08812" y="3696495"/>
            <a:ext cx="451346" cy="451346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E5F89E6C-1BBF-91CD-14C4-1D323D91FBF2}"/>
              </a:ext>
            </a:extLst>
          </p:cNvPr>
          <p:cNvSpPr/>
          <p:nvPr/>
        </p:nvSpPr>
        <p:spPr>
          <a:xfrm>
            <a:off x="6885782" y="3803650"/>
            <a:ext cx="3112393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833" dirty="0"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Comparative Analysis</a:t>
            </a:r>
            <a:endParaRPr lang="en-US" sz="1833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D1322774-303F-5D39-1EB5-5DC00721636C}"/>
              </a:ext>
            </a:extLst>
          </p:cNvPr>
          <p:cNvSpPr/>
          <p:nvPr/>
        </p:nvSpPr>
        <p:spPr>
          <a:xfrm>
            <a:off x="6885782" y="4208760"/>
            <a:ext cx="4674294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Benchmarking current yields against historical averages and industry standards to measure effectiveness of agricultural interventions.</a:t>
            </a:r>
            <a:endParaRPr lang="en-US" sz="1417" dirty="0"/>
          </a:p>
        </p:txBody>
      </p:sp>
    </p:spTree>
    <p:extLst>
      <p:ext uri="{BB962C8B-B14F-4D97-AF65-F5344CB8AC3E}">
        <p14:creationId xmlns:p14="http://schemas.microsoft.com/office/powerpoint/2010/main" val="245329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4DE260-57C3-F4C4-3312-9C6FCF60792D}"/>
              </a:ext>
            </a:extLst>
          </p:cNvPr>
          <p:cNvSpPr txBox="1"/>
          <p:nvPr/>
        </p:nvSpPr>
        <p:spPr>
          <a:xfrm>
            <a:off x="4221437" y="639764"/>
            <a:ext cx="28201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/>
              <a:t>Challenges</a:t>
            </a:r>
            <a:endParaRPr lang="en-IN" sz="4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D8DA02-D659-2240-710D-7718D22E73B4}"/>
              </a:ext>
            </a:extLst>
          </p:cNvPr>
          <p:cNvSpPr txBox="1"/>
          <p:nvPr/>
        </p:nvSpPr>
        <p:spPr>
          <a:xfrm>
            <a:off x="376521" y="1648107"/>
            <a:ext cx="540738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Project Challenges</a:t>
            </a:r>
          </a:p>
          <a:p>
            <a:endParaRPr lang="en-IN" sz="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Data Integration Issues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Difficulty in merging rainfall, temperature, pesticides, and yield datasets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Inconsistent data formats and missing values during ingestion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ETL &amp; Environment Setup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Challenges in configuring Spark and JDBC connections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Loading transformed data into PostgreSQL efficiently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Tool Integration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Effort required to connect PostgreSQL with Power BI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Ensuring stable data refresh and query performance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AC6A76-B110-A555-3BE2-6C8F6E43828C}"/>
              </a:ext>
            </a:extLst>
          </p:cNvPr>
          <p:cNvSpPr txBox="1"/>
          <p:nvPr/>
        </p:nvSpPr>
        <p:spPr>
          <a:xfrm>
            <a:off x="6096000" y="1648107"/>
            <a:ext cx="5407383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Business Challenges</a:t>
            </a:r>
          </a:p>
          <a:p>
            <a:endParaRPr lang="en-US" sz="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Unified Data View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Need to integrate multiple agricultural data sources into one structure</a:t>
            </a:r>
          </a:p>
          <a:p>
            <a:pPr lvl="1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Scalability &amp; Performance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Requirement for a scalable ETL pipeline to handle large datasets</a:t>
            </a:r>
          </a:p>
          <a:p>
            <a:pPr lvl="1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Accurate Insights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Ensuring reliable crop yield analysis under changing weather conditions</a:t>
            </a:r>
          </a:p>
        </p:txBody>
      </p:sp>
    </p:spTree>
    <p:extLst>
      <p:ext uri="{BB962C8B-B14F-4D97-AF65-F5344CB8AC3E}">
        <p14:creationId xmlns:p14="http://schemas.microsoft.com/office/powerpoint/2010/main" val="2231985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>
            <a:extLst>
              <a:ext uri="{FF2B5EF4-FFF2-40B4-BE49-F238E27FC236}">
                <a16:creationId xmlns:a16="http://schemas.microsoft.com/office/drawing/2014/main" id="{5F4B1550-E777-FB09-22A0-32E8F07AD59D}"/>
              </a:ext>
            </a:extLst>
          </p:cNvPr>
          <p:cNvSpPr/>
          <p:nvPr/>
        </p:nvSpPr>
        <p:spPr>
          <a:xfrm>
            <a:off x="631925" y="901006"/>
            <a:ext cx="9672241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66"/>
              </a:lnSpc>
            </a:pPr>
            <a:r>
              <a:rPr lang="en-US" sz="3708" dirty="0"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Future Scope: Advanced Analytics</a:t>
            </a:r>
            <a:endParaRPr lang="en-US" sz="3708" dirty="0"/>
          </a:p>
        </p:txBody>
      </p:sp>
      <p:sp>
        <p:nvSpPr>
          <p:cNvPr id="20" name="Shape 1">
            <a:extLst>
              <a:ext uri="{FF2B5EF4-FFF2-40B4-BE49-F238E27FC236}">
                <a16:creationId xmlns:a16="http://schemas.microsoft.com/office/drawing/2014/main" id="{75F07BA2-9BB3-3162-2608-F55BB76FD15C}"/>
              </a:ext>
            </a:extLst>
          </p:cNvPr>
          <p:cNvSpPr/>
          <p:nvPr/>
        </p:nvSpPr>
        <p:spPr>
          <a:xfrm>
            <a:off x="902693" y="2578200"/>
            <a:ext cx="3251498" cy="180479"/>
          </a:xfrm>
          <a:prstGeom prst="roundRect">
            <a:avLst>
              <a:gd name="adj" fmla="val 42017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C955D59D-65B2-943D-C35A-926DA1072F81}"/>
              </a:ext>
            </a:extLst>
          </p:cNvPr>
          <p:cNvSpPr/>
          <p:nvPr/>
        </p:nvSpPr>
        <p:spPr>
          <a:xfrm>
            <a:off x="631924" y="2397572"/>
            <a:ext cx="541635" cy="541635"/>
          </a:xfrm>
          <a:prstGeom prst="roundRect">
            <a:avLst>
              <a:gd name="adj" fmla="val 70343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pic>
        <p:nvPicPr>
          <p:cNvPr id="22" name="Image 0" descr="preencoded.png">
            <a:extLst>
              <a:ext uri="{FF2B5EF4-FFF2-40B4-BE49-F238E27FC236}">
                <a16:creationId xmlns:a16="http://schemas.microsoft.com/office/drawing/2014/main" id="{84F6E68A-CD88-7729-F85A-A064C1AA9C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7358" y="2533005"/>
            <a:ext cx="270768" cy="270768"/>
          </a:xfrm>
          <a:prstGeom prst="rect">
            <a:avLst/>
          </a:prstGeom>
        </p:spPr>
      </p:pic>
      <p:sp>
        <p:nvSpPr>
          <p:cNvPr id="23" name="Text 3">
            <a:extLst>
              <a:ext uri="{FF2B5EF4-FFF2-40B4-BE49-F238E27FC236}">
                <a16:creationId xmlns:a16="http://schemas.microsoft.com/office/drawing/2014/main" id="{D939331A-549B-96AF-E5D6-948D63DE5EC8}"/>
              </a:ext>
            </a:extLst>
          </p:cNvPr>
          <p:cNvSpPr/>
          <p:nvPr/>
        </p:nvSpPr>
        <p:spPr>
          <a:xfrm>
            <a:off x="812403" y="3119735"/>
            <a:ext cx="3161407" cy="593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833" dirty="0"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Machine Learning Integration</a:t>
            </a:r>
            <a:endParaRPr lang="en-US" sz="1833" dirty="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7FDDC749-7E92-0DA2-4660-958DDAE35CD8}"/>
              </a:ext>
            </a:extLst>
          </p:cNvPr>
          <p:cNvSpPr/>
          <p:nvPr/>
        </p:nvSpPr>
        <p:spPr>
          <a:xfrm>
            <a:off x="812403" y="3821708"/>
            <a:ext cx="3161407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Deploy predictive models for yield forecasting using historical data, weather patterns, and soil conditions to enable proactive decision-making.</a:t>
            </a:r>
            <a:endParaRPr lang="en-US" sz="1417" dirty="0"/>
          </a:p>
        </p:txBody>
      </p:sp>
      <p:sp>
        <p:nvSpPr>
          <p:cNvPr id="25" name="Shape 5">
            <a:extLst>
              <a:ext uri="{FF2B5EF4-FFF2-40B4-BE49-F238E27FC236}">
                <a16:creationId xmlns:a16="http://schemas.microsoft.com/office/drawing/2014/main" id="{A2A5D7D6-7233-E83B-C05A-9CF9651BFC0E}"/>
              </a:ext>
            </a:extLst>
          </p:cNvPr>
          <p:cNvSpPr/>
          <p:nvPr/>
        </p:nvSpPr>
        <p:spPr>
          <a:xfrm>
            <a:off x="4605536" y="2307332"/>
            <a:ext cx="3251498" cy="180479"/>
          </a:xfrm>
          <a:prstGeom prst="roundRect">
            <a:avLst>
              <a:gd name="adj" fmla="val 42017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86FB5312-F2D1-3209-4479-449AFAAB9204}"/>
              </a:ext>
            </a:extLst>
          </p:cNvPr>
          <p:cNvSpPr/>
          <p:nvPr/>
        </p:nvSpPr>
        <p:spPr>
          <a:xfrm>
            <a:off x="4334768" y="2126704"/>
            <a:ext cx="541635" cy="541635"/>
          </a:xfrm>
          <a:prstGeom prst="roundRect">
            <a:avLst>
              <a:gd name="adj" fmla="val 70343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pic>
        <p:nvPicPr>
          <p:cNvPr id="27" name="Image 1" descr="preencoded.png">
            <a:extLst>
              <a:ext uri="{FF2B5EF4-FFF2-40B4-BE49-F238E27FC236}">
                <a16:creationId xmlns:a16="http://schemas.microsoft.com/office/drawing/2014/main" id="{3C0C0976-E9AA-1B4A-953C-C358935F83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70202" y="2262138"/>
            <a:ext cx="270768" cy="270768"/>
          </a:xfrm>
          <a:prstGeom prst="rect">
            <a:avLst/>
          </a:prstGeom>
        </p:spPr>
      </p:pic>
      <p:sp>
        <p:nvSpPr>
          <p:cNvPr id="28" name="Text 7">
            <a:extLst>
              <a:ext uri="{FF2B5EF4-FFF2-40B4-BE49-F238E27FC236}">
                <a16:creationId xmlns:a16="http://schemas.microsoft.com/office/drawing/2014/main" id="{C3C6FFB8-8C72-FD78-E037-0C0BFD038429}"/>
              </a:ext>
            </a:extLst>
          </p:cNvPr>
          <p:cNvSpPr/>
          <p:nvPr/>
        </p:nvSpPr>
        <p:spPr>
          <a:xfrm>
            <a:off x="4515247" y="2848868"/>
            <a:ext cx="3161407" cy="593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833" dirty="0"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Real-Time Data Streaming</a:t>
            </a:r>
            <a:endParaRPr lang="en-US" sz="1833" dirty="0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1A930C78-6D3D-691E-EE74-76F47FD40DD5}"/>
              </a:ext>
            </a:extLst>
          </p:cNvPr>
          <p:cNvSpPr/>
          <p:nvPr/>
        </p:nvSpPr>
        <p:spPr>
          <a:xfrm>
            <a:off x="4515247" y="3550841"/>
            <a:ext cx="3161407" cy="1444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Implement Apache Kafka or Azure Event Hubs for live IoT sensor data processing, enabling immediate responses to changing field conditions.</a:t>
            </a:r>
            <a:endParaRPr lang="en-US" sz="1417" dirty="0"/>
          </a:p>
        </p:txBody>
      </p:sp>
      <p:sp>
        <p:nvSpPr>
          <p:cNvPr id="30" name="Shape 9">
            <a:extLst>
              <a:ext uri="{FF2B5EF4-FFF2-40B4-BE49-F238E27FC236}">
                <a16:creationId xmlns:a16="http://schemas.microsoft.com/office/drawing/2014/main" id="{EF7B0A19-D505-0F92-3E35-57B0156CDE88}"/>
              </a:ext>
            </a:extLst>
          </p:cNvPr>
          <p:cNvSpPr/>
          <p:nvPr/>
        </p:nvSpPr>
        <p:spPr>
          <a:xfrm>
            <a:off x="8308380" y="2036565"/>
            <a:ext cx="3251597" cy="180479"/>
          </a:xfrm>
          <a:prstGeom prst="roundRect">
            <a:avLst>
              <a:gd name="adj" fmla="val 42017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31" name="Shape 10">
            <a:extLst>
              <a:ext uri="{FF2B5EF4-FFF2-40B4-BE49-F238E27FC236}">
                <a16:creationId xmlns:a16="http://schemas.microsoft.com/office/drawing/2014/main" id="{12532440-EC95-1C32-DA49-7B37DA9FB771}"/>
              </a:ext>
            </a:extLst>
          </p:cNvPr>
          <p:cNvSpPr/>
          <p:nvPr/>
        </p:nvSpPr>
        <p:spPr>
          <a:xfrm>
            <a:off x="8037612" y="1855937"/>
            <a:ext cx="541635" cy="541635"/>
          </a:xfrm>
          <a:prstGeom prst="roundRect">
            <a:avLst>
              <a:gd name="adj" fmla="val 70343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pic>
        <p:nvPicPr>
          <p:cNvPr id="32" name="Image 2" descr="preencoded.png">
            <a:extLst>
              <a:ext uri="{FF2B5EF4-FFF2-40B4-BE49-F238E27FC236}">
                <a16:creationId xmlns:a16="http://schemas.microsoft.com/office/drawing/2014/main" id="{A94D15E8-5DF9-A615-5D6D-61E866D4730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73045" y="1991370"/>
            <a:ext cx="270768" cy="270768"/>
          </a:xfrm>
          <a:prstGeom prst="rect">
            <a:avLst/>
          </a:prstGeom>
        </p:spPr>
      </p:pic>
      <p:sp>
        <p:nvSpPr>
          <p:cNvPr id="33" name="Text 11">
            <a:extLst>
              <a:ext uri="{FF2B5EF4-FFF2-40B4-BE49-F238E27FC236}">
                <a16:creationId xmlns:a16="http://schemas.microsoft.com/office/drawing/2014/main" id="{AC47C4C6-0D6B-DAFD-EEF6-EBB18365EB77}"/>
              </a:ext>
            </a:extLst>
          </p:cNvPr>
          <p:cNvSpPr/>
          <p:nvPr/>
        </p:nvSpPr>
        <p:spPr>
          <a:xfrm>
            <a:off x="8218091" y="2578100"/>
            <a:ext cx="3161506" cy="593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833" dirty="0"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Advanced Anomaly Detection</a:t>
            </a:r>
            <a:endParaRPr lang="en-US" sz="1833" dirty="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E7D58A42-11DC-B606-2BDB-47FDD65E214D}"/>
              </a:ext>
            </a:extLst>
          </p:cNvPr>
          <p:cNvSpPr/>
          <p:nvPr/>
        </p:nvSpPr>
        <p:spPr>
          <a:xfrm>
            <a:off x="8218091" y="3280073"/>
            <a:ext cx="3161506" cy="1444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Utilize unsupervised learning algorithms to automatically identify irrigation failures, pest outbreaks, and equipment malfunctions before they impact yield.</a:t>
            </a:r>
            <a:endParaRPr lang="en-US" sz="1417" dirty="0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6A233A1C-B50B-478A-B0E5-3085FC94DCC4}"/>
              </a:ext>
            </a:extLst>
          </p:cNvPr>
          <p:cNvSpPr/>
          <p:nvPr/>
        </p:nvSpPr>
        <p:spPr>
          <a:xfrm>
            <a:off x="631924" y="5379045"/>
            <a:ext cx="10928152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These enhancements will transform our system from descriptive analytics to prescriptive intelligence, driving measurable improvements in agricultural outcomes.</a:t>
            </a:r>
            <a:endParaRPr lang="en-US" sz="1417" dirty="0"/>
          </a:p>
        </p:txBody>
      </p:sp>
    </p:spTree>
    <p:extLst>
      <p:ext uri="{BB962C8B-B14F-4D97-AF65-F5344CB8AC3E}">
        <p14:creationId xmlns:p14="http://schemas.microsoft.com/office/powerpoint/2010/main" val="1871463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8C67436-0986-183C-24A8-79FACF4AE9A6}"/>
              </a:ext>
            </a:extLst>
          </p:cNvPr>
          <p:cNvSpPr/>
          <p:nvPr/>
        </p:nvSpPr>
        <p:spPr>
          <a:xfrm>
            <a:off x="631924" y="1433116"/>
            <a:ext cx="8009533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66"/>
              </a:lnSpc>
            </a:pPr>
            <a:r>
              <a:rPr lang="en-US" sz="3708" dirty="0">
                <a:solidFill>
                  <a:srgbClr val="000000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Conclusion &amp; Key Takeaways</a:t>
            </a:r>
            <a:endParaRPr lang="en-US" sz="3708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AFB828F-5CDD-7C92-034D-175C3F2CA3FD}"/>
              </a:ext>
            </a:extLst>
          </p:cNvPr>
          <p:cNvSpPr/>
          <p:nvPr/>
        </p:nvSpPr>
        <p:spPr>
          <a:xfrm>
            <a:off x="631924" y="2388096"/>
            <a:ext cx="406202" cy="40620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16A986D-1FDB-D156-D7EB-063760352EF3}"/>
              </a:ext>
            </a:extLst>
          </p:cNvPr>
          <p:cNvSpPr/>
          <p:nvPr/>
        </p:nvSpPr>
        <p:spPr>
          <a:xfrm>
            <a:off x="1218605" y="2450108"/>
            <a:ext cx="4406900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833" dirty="0">
                <a:solidFill>
                  <a:srgbClr val="000000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Integrated Crop Yield Analysis </a:t>
            </a:r>
            <a:endParaRPr lang="en-US" sz="1833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46BBFEF-371F-A250-5EAF-A422CC978395}"/>
              </a:ext>
            </a:extLst>
          </p:cNvPr>
          <p:cNvSpPr/>
          <p:nvPr/>
        </p:nvSpPr>
        <p:spPr>
          <a:xfrm>
            <a:off x="1218605" y="2855218"/>
            <a:ext cx="476458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Combined rainfall,temperature,Pesticide,and yield data to provide holistic insights for agricultural performance.</a:t>
            </a:r>
            <a:endParaRPr lang="en-US" sz="1417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54AC5D4-449A-4536-EA07-23E7630205CA}"/>
              </a:ext>
            </a:extLst>
          </p:cNvPr>
          <p:cNvSpPr/>
          <p:nvPr/>
        </p:nvSpPr>
        <p:spPr>
          <a:xfrm>
            <a:off x="6208812" y="2388096"/>
            <a:ext cx="406202" cy="40620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A8296B4-19FE-9CDE-7C64-073E1999DFE3}"/>
              </a:ext>
            </a:extLst>
          </p:cNvPr>
          <p:cNvSpPr/>
          <p:nvPr/>
        </p:nvSpPr>
        <p:spPr>
          <a:xfrm>
            <a:off x="6795493" y="2450108"/>
            <a:ext cx="3849489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833" dirty="0">
                <a:solidFill>
                  <a:srgbClr val="000000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Strategic Decision Support</a:t>
            </a:r>
            <a:endParaRPr lang="en-US" sz="1833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8C969D1-B7A2-CEB0-2076-2B20220064F7}"/>
              </a:ext>
            </a:extLst>
          </p:cNvPr>
          <p:cNvSpPr/>
          <p:nvPr/>
        </p:nvSpPr>
        <p:spPr>
          <a:xfrm>
            <a:off x="6795493" y="2855218"/>
            <a:ext cx="476458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Enabled farmers and policymakers to make data-driven decisions for crop planning and resource allocation</a:t>
            </a:r>
            <a:endParaRPr lang="en-US" sz="1417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6E168FD-A3B5-9D40-7CA3-0A01444D8CE1}"/>
              </a:ext>
            </a:extLst>
          </p:cNvPr>
          <p:cNvSpPr/>
          <p:nvPr/>
        </p:nvSpPr>
        <p:spPr>
          <a:xfrm>
            <a:off x="631924" y="3794125"/>
            <a:ext cx="406202" cy="40620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F22E7EE-E767-0496-BD27-4D13BCF62F2E}"/>
              </a:ext>
            </a:extLst>
          </p:cNvPr>
          <p:cNvSpPr/>
          <p:nvPr/>
        </p:nvSpPr>
        <p:spPr>
          <a:xfrm>
            <a:off x="1218605" y="3856137"/>
            <a:ext cx="408959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833" dirty="0">
                <a:solidFill>
                  <a:srgbClr val="000000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Scalable Data Infrastructure</a:t>
            </a:r>
            <a:endParaRPr lang="en-US" sz="1833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6B1D099-83D3-39A1-B9F4-7826CBEEEDAE}"/>
              </a:ext>
            </a:extLst>
          </p:cNvPr>
          <p:cNvSpPr/>
          <p:nvPr/>
        </p:nvSpPr>
        <p:spPr>
          <a:xfrm>
            <a:off x="1218605" y="4261247"/>
            <a:ext cx="4764583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Built a robust ETL pipeline with PostgreSQL and Power BI for efficient data storage,processing, and visualization at scale.</a:t>
            </a:r>
            <a:endParaRPr lang="en-US" sz="1417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BC52256-F9BD-E3D4-28BE-0076598B4575}"/>
              </a:ext>
            </a:extLst>
          </p:cNvPr>
          <p:cNvSpPr/>
          <p:nvPr/>
        </p:nvSpPr>
        <p:spPr>
          <a:xfrm>
            <a:off x="6208812" y="3794125"/>
            <a:ext cx="406202" cy="40620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0A63ABB-95AC-7788-8714-660DED4829EB}"/>
              </a:ext>
            </a:extLst>
          </p:cNvPr>
          <p:cNvSpPr/>
          <p:nvPr/>
        </p:nvSpPr>
        <p:spPr>
          <a:xfrm>
            <a:off x="6795492" y="3856137"/>
            <a:ext cx="4990207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833" dirty="0">
                <a:solidFill>
                  <a:srgbClr val="000000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Agricultural Sustainability Impact</a:t>
            </a:r>
            <a:endParaRPr lang="en-US" sz="1833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FBF16EB-04C5-CD18-D4B0-A8C9E531278F}"/>
              </a:ext>
            </a:extLst>
          </p:cNvPr>
          <p:cNvSpPr/>
          <p:nvPr/>
        </p:nvSpPr>
        <p:spPr>
          <a:xfrm>
            <a:off x="6795493" y="4261247"/>
            <a:ext cx="4764583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Contributed to improved productivity,optimized resource usage, and promoted sustainable farming practices.</a:t>
            </a:r>
            <a:endParaRPr lang="en-US" sz="1417" dirty="0"/>
          </a:p>
        </p:txBody>
      </p:sp>
    </p:spTree>
    <p:extLst>
      <p:ext uri="{BB962C8B-B14F-4D97-AF65-F5344CB8AC3E}">
        <p14:creationId xmlns:p14="http://schemas.microsoft.com/office/powerpoint/2010/main" val="27760458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6A68B7-8591-7341-1A42-C3438119FE7F}"/>
              </a:ext>
            </a:extLst>
          </p:cNvPr>
          <p:cNvSpPr txBox="1"/>
          <p:nvPr/>
        </p:nvSpPr>
        <p:spPr>
          <a:xfrm>
            <a:off x="2775857" y="3075057"/>
            <a:ext cx="73151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-----------Thank You-----------</a:t>
            </a:r>
          </a:p>
        </p:txBody>
      </p:sp>
    </p:spTree>
    <p:extLst>
      <p:ext uri="{BB962C8B-B14F-4D97-AF65-F5344CB8AC3E}">
        <p14:creationId xmlns:p14="http://schemas.microsoft.com/office/powerpoint/2010/main" val="4084240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1404</TotalTime>
  <Words>1154</Words>
  <Application>Microsoft Office PowerPoint</Application>
  <PresentationFormat>Widescreen</PresentationFormat>
  <Paragraphs>154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Aptos</vt:lpstr>
      <vt:lpstr>Aptos Display</vt:lpstr>
      <vt:lpstr>Arial</vt:lpstr>
      <vt:lpstr>Dela Gothic One</vt:lpstr>
      <vt:lpstr>Dela Gothic One Light</vt:lpstr>
      <vt:lpstr>DM Sans</vt:lpstr>
      <vt:lpstr>Fira Sans</vt:lpstr>
      <vt:lpstr>Inconsolata Bold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 Shashank Reddy</dc:creator>
  <cp:lastModifiedBy>REDDY, KATTA RAMSHASHANK</cp:lastModifiedBy>
  <cp:revision>20</cp:revision>
  <dcterms:created xsi:type="dcterms:W3CDTF">2025-12-13T11:48:36Z</dcterms:created>
  <dcterms:modified xsi:type="dcterms:W3CDTF">2025-12-16T03:54:48Z</dcterms:modified>
</cp:coreProperties>
</file>